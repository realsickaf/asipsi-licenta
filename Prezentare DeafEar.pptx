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71" r:id="rId4"/>
    <p:sldId id="259" r:id="rId5"/>
    <p:sldId id="272" r:id="rId6"/>
    <p:sldId id="273" r:id="rId7"/>
    <p:sldId id="262" r:id="rId8"/>
    <p:sldId id="274" r:id="rId9"/>
    <p:sldId id="264" r:id="rId10"/>
    <p:sldId id="265" r:id="rId11"/>
    <p:sldId id="266" r:id="rId12"/>
    <p:sldId id="267" r:id="rId13"/>
    <p:sldId id="268" r:id="rId14"/>
    <p:sldId id="275" r:id="rId15"/>
  </p:sldIdLst>
  <p:sldSz cx="12192000" cy="6858000"/>
  <p:notesSz cx="6858000" cy="9144000"/>
  <p:embeddedFontLst>
    <p:embeddedFont>
      <p:font typeface="DM Sans" pitchFamily="2" charset="0"/>
      <p:regular r:id="rId17"/>
      <p:bold r:id="rId18"/>
      <p:italic r:id="rId19"/>
      <p:boldItalic r:id="rId20"/>
    </p:embeddedFont>
    <p:embeddedFont>
      <p:font typeface="Merriweather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5FA897-6AA5-4DFD-8350-5D5EDDA31D35}">
  <a:tblStyle styleId="{0F5FA897-6AA5-4DFD-8350-5D5EDDA31D3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2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0"/>
            <a:ext cx="121920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833687" y="651569"/>
            <a:ext cx="65246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705451" y="1718369"/>
            <a:ext cx="8781097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sng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800" b="1" i="0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DeafEar</a:t>
            </a:r>
            <a:endParaRPr sz="4800" b="1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3585269"/>
            <a:ext cx="8572500" cy="96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Sistem</a:t>
            </a:r>
            <a:r>
              <a:rPr lang="en-US" sz="19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95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interpretare</a:t>
            </a:r>
            <a:r>
              <a:rPr lang="en-US" sz="19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automata a </a:t>
            </a:r>
            <a:r>
              <a:rPr lang="en-US" sz="195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limbajului</a:t>
            </a:r>
            <a:r>
              <a:rPr lang="en-US" sz="19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5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semnelor</a:t>
            </a:r>
            <a:r>
              <a:rPr lang="en-US" sz="19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5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utilizand</a:t>
            </a:r>
            <a:r>
              <a:rPr lang="en-US" sz="19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5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tehnici</a:t>
            </a:r>
            <a:r>
              <a:rPr lang="en-US" sz="19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de AI 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1809750" y="5200489"/>
            <a:ext cx="69913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Student: Eusebiu Timpu</a:t>
            </a:r>
            <a:br>
              <a:rPr lang="en-US" sz="15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 sz="15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An: IV</a:t>
            </a:r>
            <a:br>
              <a:rPr lang="en-US" sz="15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 sz="15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Grupa : 2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7015A4-D112-38E2-F681-2BC0C27B29E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12421" y="130263"/>
            <a:ext cx="7108490" cy="1042611"/>
          </a:xfrm>
          <a:prstGeom prst="rect">
            <a:avLst/>
          </a:prstGeom>
        </p:spPr>
      </p:pic>
      <p:sp>
        <p:nvSpPr>
          <p:cNvPr id="3" name="Google Shape;89;p13">
            <a:extLst>
              <a:ext uri="{FF2B5EF4-FFF2-40B4-BE49-F238E27FC236}">
                <a16:creationId xmlns:a16="http://schemas.microsoft.com/office/drawing/2014/main" id="{2C5D4056-61F7-5B0B-F63A-EB74AF038CDA}"/>
              </a:ext>
            </a:extLst>
          </p:cNvPr>
          <p:cNvSpPr txBox="1"/>
          <p:nvPr/>
        </p:nvSpPr>
        <p:spPr>
          <a:xfrm>
            <a:off x="7636809" y="5200489"/>
            <a:ext cx="69913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Specializare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Automatica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br>
              <a:rPr lang="en-US" sz="15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 sz="15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                        Informatica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aplicata</a:t>
            </a:r>
            <a:endParaRPr lang="en-US" sz="1500" b="0" i="0" u="none" strike="noStrike" cap="none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192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666750" y="47625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Introducere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dirty="0"/>
          </a:p>
        </p:txBody>
      </p:sp>
      <p:sp>
        <p:nvSpPr>
          <p:cNvPr id="97" name="Google Shape;97;p14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2700" y="1495425"/>
            <a:ext cx="508635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000125" y="1571625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Punte </a:t>
            </a:r>
            <a:r>
              <a:rPr lang="en-US" sz="1500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între</a:t>
            </a:r>
            <a:r>
              <a:rPr lang="en-US" sz="15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lumi</a:t>
            </a:r>
            <a:r>
              <a:rPr lang="en-US" sz="15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Facilitarea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comunicării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directe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între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comunitatea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surdo-mută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și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mediul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profesional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educațional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1000125" y="2628900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Impact Social: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Peste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30.000 de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utilizatori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potențiali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LSR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Limbajul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Semnelor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Românesc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) au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nevoie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soluții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accesibilitate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1000125" y="3686175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Independență și Privacy: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Procesarea 100% locală (On-Edge) garantează securitatea datelor biometrice ale utilizatorului.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00125" y="4743450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Motivație Tehnică: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Integrarea tehnologiilor de Computer Vision cu modele secvențiale pentru traducere live.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16240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26812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" y="37385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6750" y="47958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38300"/>
            <a:ext cx="3492549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638300"/>
            <a:ext cx="3492549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638300"/>
            <a:ext cx="3492549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Stadiul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Actual al </a:t>
            </a:r>
            <a:r>
              <a:rPr lang="en-US" sz="33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Domeniului</a:t>
            </a:r>
            <a:endParaRPr dirty="0"/>
          </a:p>
        </p:txBody>
      </p:sp>
      <p:sp>
        <p:nvSpPr>
          <p:cNvPr id="117" name="Google Shape;117;p15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933450" y="2619375"/>
            <a:ext cx="29770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Latența</a:t>
            </a: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Cloud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933450" y="3152775"/>
            <a:ext cx="2835324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Sistemele existente depind de servere externe, generând lag-uri inacceptabile în conversațiile live.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711749" y="2619375"/>
            <a:ext cx="29770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Biometrie &amp; Privacy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711749" y="3152775"/>
            <a:ext cx="2835324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Transferul fluxului video în cloud ridică riscuri majore de securitate. Soluția On-Edge elimină acest vector.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90049" y="2619375"/>
            <a:ext cx="29770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LSR &amp; Context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490049" y="3152775"/>
            <a:ext cx="2835324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Recunoașterea limbajului semnelor românesc (LSR) necesită adaptări specifice ale modelelor SLT.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3450" y="19812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11749" y="19812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90049" y="1981200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666750" y="47625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Metode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și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Tehnologii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Folosite</a:t>
            </a:r>
            <a:endParaRPr dirty="0"/>
          </a:p>
        </p:txBody>
      </p:sp>
      <p:sp>
        <p:nvSpPr>
          <p:cNvPr id="133" name="Google Shape;133;p16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1000125" y="15716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MediaPipe Holistic: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Pipeline de extragere a scheletului mâinilor și feței.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000125" y="23241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Arhitectură LSTM: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Rețea neurală recurentă pentru învățarea contextului temporal al gesturilor.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00125" y="30765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ONNX Runtime: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Format de model optimizat pentru inferență rapidă pe CPU local.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00125" y="38290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Stack Software: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Python 3.10, PySide6 (GUI), OpenCV și pyttsx3 (Sinteză Vocală).</a:t>
            </a:r>
            <a:endParaRPr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6240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23764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312896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38814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DD9206-E2E4-38F1-A211-22B6E4177D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2" y="1437248"/>
            <a:ext cx="5035644" cy="36491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38300"/>
            <a:ext cx="542925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638300"/>
            <a:ext cx="542925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52850"/>
            <a:ext cx="542925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3752850"/>
            <a:ext cx="542925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Funcționalități Proiectate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933450" y="1933575"/>
            <a:ext cx="501062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Detecție &amp; Tracking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33450" y="2466975"/>
            <a:ext cx="47720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Extracția automată a scheletului mâinilor și trăsăturilor faciale la 30 FPS.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553200" y="1933575"/>
            <a:ext cx="501062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Traducere Live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553200" y="2466975"/>
            <a:ext cx="47720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Conversia gesturilor în text, afișat ca overlay subtitrat pe camera virtuală.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33450" y="4048125"/>
            <a:ext cx="501062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Sinteză Audio (TTS)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33450" y="4581525"/>
            <a:ext cx="47720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Generarea automată a vocii sintetice pentru accesibilitate auditivă.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553200" y="4048125"/>
            <a:ext cx="501062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Configurare UX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553200" y="4581525"/>
            <a:ext cx="47720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Panou de control pentru pragul de încredere (confidence) și selectarea sursei video.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Arhitectură Hardware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1798290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0ms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3360390"/>
            <a:ext cx="5286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Latență de Rețea (Offline AI)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334125" y="1638300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Configurație Sistem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762750" y="21336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CPU: Ryzen 5 5600H (Accelerare AVX2).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762750" y="26289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RAM: 16 GB DDR4 (Amprentă ~2GB).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762750" y="31242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Cameră: WebCam standard UVC (720p+).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762750" y="36195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Procesare 100% On-Edge.</a:t>
            </a:r>
            <a:endParaRPr/>
          </a:p>
        </p:txBody>
      </p:sp>
      <p:pic>
        <p:nvPicPr>
          <p:cNvPr id="177" name="Google Shape;17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717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6700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1623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657600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419225"/>
            <a:ext cx="3492400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419225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32700" y="1419225"/>
            <a:ext cx="3492400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666750" y="47625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Arhitectura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Sistemului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: Software</a:t>
            </a:r>
            <a:endParaRPr dirty="0"/>
          </a:p>
        </p:txBody>
      </p:sp>
      <p:sp>
        <p:nvSpPr>
          <p:cNvPr id="188" name="Google Shape;188;p19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666750" y="4305300"/>
            <a:ext cx="10858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Arhitectură modulară ce decuplează procesarea matematică de randarea grafică.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962025" y="1885950"/>
            <a:ext cx="31069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Layer Viziune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962025" y="2371725"/>
            <a:ext cx="2959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OpenCV + MediaPipe: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Captură asincronă și extragerea coordonatelor 3D ale landmarks-urilor.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4644925" y="1885950"/>
            <a:ext cx="310710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Layer AI (Engine)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4644925" y="2371725"/>
            <a:ext cx="29591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ONNX / LSTM: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Inferența bazată pe ferestre glisante (sliding windows) de 30 de cadre.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327975" y="1885950"/>
            <a:ext cx="31069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Layer Prezentare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8327975" y="2371725"/>
            <a:ext cx="295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PySide6: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Gestionarea firelor de execuție (QThreads) pentru a asigura o interfață fluidă.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38300"/>
            <a:ext cx="3492549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638300"/>
            <a:ext cx="3492549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638300"/>
            <a:ext cx="3492549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Arhitectura de Comunicații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3450" y="19335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933450" y="2505075"/>
            <a:ext cx="29770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Inter-Process (IPC)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933450" y="3038475"/>
            <a:ext cx="283532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Transfer de date via Shared Memory între motorul AI și interfața grafică Qt.</a:t>
            </a:r>
            <a:endParaRPr/>
          </a:p>
        </p:txBody>
      </p:sp>
      <p:pic>
        <p:nvPicPr>
          <p:cNvPr id="207" name="Google Shape;20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11749" y="193357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4711749" y="2505075"/>
            <a:ext cx="29770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Virtual Bridge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4711749" y="3038475"/>
            <a:ext cx="283532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Integrare tip "Middleware" între camera fizică și platformele Zoom/Teams.</a:t>
            </a:r>
            <a:endParaRPr/>
          </a:p>
        </p:txBody>
      </p:sp>
      <p:pic>
        <p:nvPicPr>
          <p:cNvPr id="210" name="Google Shape;210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90049" y="19335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490049" y="2505075"/>
            <a:ext cx="297709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DirectShow Integration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490049" y="3381375"/>
            <a:ext cx="283532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Înregistrarea sistemului ca dispozitiv periferic virtual nativ în Windows.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19225"/>
            <a:ext cx="5238750" cy="4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666750" y="47625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Arhitectura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Mixtă</a:t>
            </a:r>
            <a:endParaRPr dirty="0"/>
          </a:p>
        </p:txBody>
      </p:sp>
      <p:sp>
        <p:nvSpPr>
          <p:cNvPr id="216" name="Google Shape;216;p21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666750" y="16097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Integrarea strânsă între resursele hardware și blocurile software:</a:t>
            </a:r>
            <a:endParaRPr/>
          </a:p>
        </p:txBody>
      </p:sp>
      <p:pic>
        <p:nvPicPr>
          <p:cNvPr id="218" name="Google Shape;21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05825" y="2628900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6791325" y="3581400"/>
            <a:ext cx="4286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Simbioză HW/SW: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Performanță în timp real pe dispozitive standard.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1000125" y="2409825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Co-proiectare: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Algoritmii sunt optimizați pentru a utiliza instrucțiunile vectoriale ale procesorului (SIMD/AVX2).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000125" y="3467100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Feedback Loop: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Hardware-ul de captură (Camera) alimentează buffer-ul RAM, care este imediat procesat de modelul AI On-Edge.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000125" y="4524375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Output Compozit: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Rezultatul este o îmbinare între video-ul original (hardware) și metadatele traduse (software).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388346"/>
            <a:ext cx="10858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895475"/>
            <a:ext cx="2497335" cy="2111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53705" y="1895475"/>
            <a:ext cx="2497335" cy="2111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40660" y="1895475"/>
            <a:ext cx="2497335" cy="2111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27616" y="1895475"/>
            <a:ext cx="2497335" cy="211187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666750" y="47625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Scenarii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de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Utilizare</a:t>
            </a:r>
            <a:endParaRPr dirty="0"/>
          </a:p>
        </p:txBody>
      </p:sp>
      <p:sp>
        <p:nvSpPr>
          <p:cNvPr id="234" name="Google Shape;234;p22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66750" y="188025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866775" y="2273796"/>
            <a:ext cx="22021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Configurare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866775" y="2702421"/>
            <a:ext cx="209728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Lansarea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DeafEar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și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calibrarea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camerei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în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interfața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de preview.</a:t>
            </a:r>
            <a:endParaRPr dirty="0"/>
          </a:p>
        </p:txBody>
      </p:sp>
      <p:sp>
        <p:nvSpPr>
          <p:cNvPr id="239" name="Google Shape;239;p22"/>
          <p:cNvSpPr txBox="1"/>
          <p:nvPr/>
        </p:nvSpPr>
        <p:spPr>
          <a:xfrm>
            <a:off x="3653730" y="2273796"/>
            <a:ext cx="22021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Integrare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3653730" y="2702421"/>
            <a:ext cx="209728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Selectarea "DeafEar Camera" ca sursă video în Zoom sau Teams.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440685" y="2273796"/>
            <a:ext cx="22021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Sesiune Live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440685" y="2702421"/>
            <a:ext cx="209728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Utilizatorul semnează; sistemul traduce automat și redă audio.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9227641" y="2273796"/>
            <a:ext cx="22021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Finalizare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9227641" y="2702421"/>
            <a:ext cx="209728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Salvarea istoricului și închiderea dispozitivelor virtuale.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1879660" y="1781679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4611754" y="1792784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7413127" y="1781679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0236140" y="1781679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FB63AB-6AA4-8B9C-B1C7-1ECBF0B3EC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4385667"/>
            <a:ext cx="10933672" cy="25204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19225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666750" y="47625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Implementare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Agile: Backlog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și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Epice</a:t>
            </a:r>
            <a:endParaRPr dirty="0"/>
          </a:p>
        </p:txBody>
      </p:sp>
      <p:sp>
        <p:nvSpPr>
          <p:cNvPr id="256" name="Google Shape;256;p23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666750" y="1597521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Product Backlog</a:t>
            </a:r>
            <a:endParaRPr/>
          </a:p>
        </p:txBody>
      </p:sp>
      <p:pic>
        <p:nvPicPr>
          <p:cNvPr id="258" name="Google Shape;25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2700" y="1495425"/>
            <a:ext cx="5086350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1000125" y="201394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Epica 1 (Core AI):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Colectare dataset LSR și antrenare model LSTM.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000125" y="276641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Epica 2 (Vision Pipe):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Extracție landmarks și normalizare coordonate.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1000125" y="351889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Epica 3 (Integration):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Dezvoltare driver Virtual Camera și overlay grafic.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1000125" y="427136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Epica 4 (UI/UX):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Dashboard setări și motor Text-to-Speech.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666750" y="47625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Divizare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în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Sprinturi</a:t>
            </a:r>
            <a:endParaRPr dirty="0"/>
          </a:p>
        </p:txBody>
      </p:sp>
      <p:sp>
        <p:nvSpPr>
          <p:cNvPr id="269" name="Google Shape;269;p24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666750" y="1419225"/>
            <a:ext cx="10858500" cy="2857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1" name="Google Shape;271;p24"/>
          <p:cNvGraphicFramePr/>
          <p:nvPr/>
        </p:nvGraphicFramePr>
        <p:xfrm>
          <a:off x="666750" y="1419225"/>
          <a:ext cx="10858525" cy="2857500"/>
        </p:xfrm>
        <a:graphic>
          <a:graphicData uri="http://schemas.openxmlformats.org/drawingml/2006/table">
            <a:tbl>
              <a:tblPr firstRow="1" bandRow="1">
                <a:noFill/>
                <a:tableStyleId>{0F5FA897-6AA5-4DFD-8350-5D5EDDA31D35}</a:tableStyleId>
              </a:tblPr>
              <a:tblGrid>
                <a:gridCol w="173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Sprint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Focus Principal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Rezultat (Deliverable)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Sprint 1-2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Cercetare &amp; Data Acquisition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Dataset LSR validat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Sprint 3-4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 Training &amp; ONNX Export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 AI funcțional (.onnx)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Sprint 5-6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Vision Module &amp; GUI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Interfață stabilă cu tracking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Sprint 7-8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System Integration &amp; QA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Produs final integrat în Zoom/Teams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2" name="Google Shape;272;p24"/>
          <p:cNvSpPr txBox="1"/>
          <p:nvPr/>
        </p:nvSpPr>
        <p:spPr>
          <a:xfrm>
            <a:off x="666750" y="4467225"/>
            <a:ext cx="10858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Metodologie: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Sprint-uri de 2 săptămâni cu revizuiri incrementale (metoda Scrum adaptată individual).</a:t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666750" y="2462212"/>
            <a:ext cx="1734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2401341" y="2462212"/>
            <a:ext cx="4220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6621809" y="2462212"/>
            <a:ext cx="49034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666750" y="3062287"/>
            <a:ext cx="1734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2401341" y="3062287"/>
            <a:ext cx="4220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6621809" y="3062287"/>
            <a:ext cx="49034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666750" y="3662362"/>
            <a:ext cx="1734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2401341" y="3662362"/>
            <a:ext cx="4220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6621809" y="3662362"/>
            <a:ext cx="49034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666750" y="4262437"/>
            <a:ext cx="1734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2401341" y="4262437"/>
            <a:ext cx="42204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6621809" y="4262437"/>
            <a:ext cx="490344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419225"/>
            <a:ext cx="34607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1419225"/>
            <a:ext cx="34607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419225"/>
            <a:ext cx="34608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 txBox="1"/>
          <p:nvPr/>
        </p:nvSpPr>
        <p:spPr>
          <a:xfrm>
            <a:off x="666750" y="47625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Demo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Produs</a:t>
            </a:r>
            <a:endParaRPr dirty="0"/>
          </a:p>
        </p:txBody>
      </p:sp>
      <p:sp>
        <p:nvSpPr>
          <p:cNvPr id="294" name="Google Shape;294;p25"/>
          <p:cNvSpPr/>
          <p:nvPr/>
        </p:nvSpPr>
        <p:spPr>
          <a:xfrm>
            <a:off x="666750" y="106680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 txBox="1"/>
          <p:nvPr/>
        </p:nvSpPr>
        <p:spPr>
          <a:xfrm>
            <a:off x="666750" y="3990975"/>
            <a:ext cx="3460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Tracking Landmarks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4365575" y="3990975"/>
            <a:ext cx="3460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Integrare Zoom/Teams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8064400" y="3990975"/>
            <a:ext cx="34608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Panou Configurare</a:t>
            </a:r>
            <a:endParaRPr/>
          </a:p>
        </p:txBody>
      </p:sp>
      <p:pic>
        <p:nvPicPr>
          <p:cNvPr id="298" name="Google Shape;298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2950" y="1495425"/>
            <a:ext cx="330830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41775" y="1495425"/>
            <a:ext cx="330830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40600" y="1495425"/>
            <a:ext cx="330844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4" name="Picture 6" descr="GitHub - kulin-patel/Hand-Tracking: Identifying hand with 21 landmarks. It  can also track movement. · GitHub">
            <a:extLst>
              <a:ext uri="{FF2B5EF4-FFF2-40B4-BE49-F238E27FC236}">
                <a16:creationId xmlns:a16="http://schemas.microsoft.com/office/drawing/2014/main" id="{4A2E35F0-7E8B-D4E0-EF08-1FDD384DDB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46" t="26815" r="746" b="7821"/>
          <a:stretch>
            <a:fillRect/>
          </a:stretch>
        </p:blipFill>
        <p:spPr bwMode="auto">
          <a:xfrm>
            <a:off x="641300" y="1495423"/>
            <a:ext cx="3409950" cy="222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ntroducing Sign Language View for Teams Meetings | Microsoft Community Hub">
            <a:extLst>
              <a:ext uri="{FF2B5EF4-FFF2-40B4-BE49-F238E27FC236}">
                <a16:creationId xmlns:a16="http://schemas.microsoft.com/office/drawing/2014/main" id="{9F0CE655-BE0A-2D58-913B-5BC7D82271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7" r="21215"/>
          <a:stretch>
            <a:fillRect/>
          </a:stretch>
        </p:blipFill>
        <p:spPr bwMode="auto">
          <a:xfrm>
            <a:off x="4441775" y="1437248"/>
            <a:ext cx="3395619" cy="2330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How to use Sign Language View in Microsoft Teams – Instruction @ UH">
            <a:extLst>
              <a:ext uri="{FF2B5EF4-FFF2-40B4-BE49-F238E27FC236}">
                <a16:creationId xmlns:a16="http://schemas.microsoft.com/office/drawing/2014/main" id="{DE1BB9B4-1A7F-6A9D-6077-6FFD73D88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536" y="1442749"/>
            <a:ext cx="3244576" cy="2357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38300"/>
            <a:ext cx="528637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38300"/>
            <a:ext cx="5286375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Concluzii și Perspective</a:t>
            </a:r>
            <a:endParaRPr/>
          </a:p>
        </p:txBody>
      </p:sp>
      <p:sp>
        <p:nvSpPr>
          <p:cNvPr id="284" name="Google Shape;284;p24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 txBox="1"/>
          <p:nvPr/>
        </p:nvSpPr>
        <p:spPr>
          <a:xfrm>
            <a:off x="295275" y="43434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Vă mulțumesc pentru atenție!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571500" y="49625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Sunt disponibil pentru întrebări și clarificări.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933450" y="1933575"/>
            <a:ext cx="486060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Contribuții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933450" y="2466975"/>
            <a:ext cx="46291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Implementarea unui sistem independent de cloud, cu precizie de peste 85% pe vocabularul stabilit și latență minimă.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6696075" y="1933575"/>
            <a:ext cx="486060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Direcții Viitoare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6696075" y="2466975"/>
            <a:ext cx="46291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Extinderea dicționarului LSR cu jargon tehnic și dezvoltarea unui model hibrid Vision-Transformer pentru context complex.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</Words>
  <Application>Microsoft Office PowerPoint</Application>
  <PresentationFormat>Widescreen</PresentationFormat>
  <Paragraphs>104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Merriweather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This</dc:creator>
  <cp:lastModifiedBy>Timpu, Eusebiu</cp:lastModifiedBy>
  <cp:revision>2</cp:revision>
  <dcterms:modified xsi:type="dcterms:W3CDTF">2026-04-29T08:23:32Z</dcterms:modified>
</cp:coreProperties>
</file>