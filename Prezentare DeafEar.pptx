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7"/>
  </p:notesMasterIdLst>
  <p:sldIdLst>
    <p:sldId id="256" r:id="rId2"/>
    <p:sldId id="257" r:id="rId3"/>
    <p:sldId id="271" r:id="rId4"/>
    <p:sldId id="259" r:id="rId5"/>
    <p:sldId id="272" r:id="rId6"/>
    <p:sldId id="273" r:id="rId7"/>
    <p:sldId id="262" r:id="rId8"/>
    <p:sldId id="274" r:id="rId9"/>
    <p:sldId id="264" r:id="rId10"/>
    <p:sldId id="265" r:id="rId11"/>
    <p:sldId id="266" r:id="rId12"/>
    <p:sldId id="267" r:id="rId13"/>
    <p:sldId id="268" r:id="rId14"/>
    <p:sldId id="275" r:id="rId15"/>
    <p:sldId id="270" r:id="rId16"/>
  </p:sldIdLst>
  <p:sldSz cx="12192000" cy="6858000"/>
  <p:notesSz cx="6858000" cy="9144000"/>
  <p:embeddedFontLst>
    <p:embeddedFont>
      <p:font typeface="DM Sans" pitchFamily="2" charset="0"/>
      <p:regular r:id="rId18"/>
      <p:bold r:id="rId19"/>
      <p:italic r:id="rId20"/>
      <p:boldItalic r:id="rId21"/>
    </p:embeddedFont>
    <p:embeddedFont>
      <p:font typeface="Merriweather" panose="00000500000000000000" pitchFamily="2" charset="0"/>
      <p:regular r:id="rId22"/>
      <p:bold r:id="rId23"/>
      <p:italic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F5FA897-6AA5-4DFD-8350-5D5EDDA31D35}">
  <a:tblStyle styleId="{0F5FA897-6AA5-4DFD-8350-5D5EDDA31D35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8" y="10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" name="Google Shape;165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" name="Google Shape;196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5" name="Google Shape;26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7" name="Google Shape;287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8" name="Google Shape;278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8" name="Google Shape;318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10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1.png"/><Relationship Id="rId7" Type="http://schemas.openxmlformats.org/officeDocument/2006/relationships/image" Target="../media/image46.png"/><Relationship Id="rId12" Type="http://schemas.openxmlformats.org/officeDocument/2006/relationships/image" Target="../media/image5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11" Type="http://schemas.openxmlformats.org/officeDocument/2006/relationships/image" Target="../media/image50.png"/><Relationship Id="rId5" Type="http://schemas.openxmlformats.org/officeDocument/2006/relationships/image" Target="../media/image44.png"/><Relationship Id="rId10" Type="http://schemas.openxmlformats.org/officeDocument/2006/relationships/image" Target="../media/image49.png"/><Relationship Id="rId4" Type="http://schemas.openxmlformats.org/officeDocument/2006/relationships/image" Target="../media/image43.png"/><Relationship Id="rId9" Type="http://schemas.openxmlformats.org/officeDocument/2006/relationships/image" Target="../media/image4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-1" y="0"/>
            <a:ext cx="12192000" cy="590550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/>
          <p:nvPr/>
        </p:nvSpPr>
        <p:spPr>
          <a:xfrm>
            <a:off x="2833687" y="651569"/>
            <a:ext cx="6524625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7" name="Google Shape;87;p13"/>
          <p:cNvSpPr txBox="1"/>
          <p:nvPr/>
        </p:nvSpPr>
        <p:spPr>
          <a:xfrm>
            <a:off x="1705451" y="1718369"/>
            <a:ext cx="8781097" cy="1292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36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3600" b="1" i="0" u="sng" strike="noStrike" cap="none" dirty="0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 </a:t>
            </a:r>
            <a:r>
              <a:rPr lang="en-US" sz="4800" b="1" i="0" strike="noStrike" cap="none" dirty="0" err="1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DeafEar</a:t>
            </a:r>
            <a:endParaRPr sz="4800" b="1" dirty="0"/>
          </a:p>
        </p:txBody>
      </p:sp>
      <p:sp>
        <p:nvSpPr>
          <p:cNvPr id="88" name="Google Shape;88;p13"/>
          <p:cNvSpPr txBox="1"/>
          <p:nvPr/>
        </p:nvSpPr>
        <p:spPr>
          <a:xfrm>
            <a:off x="1809750" y="3585269"/>
            <a:ext cx="8572500" cy="9602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0" i="0" u="none" strike="noStrike" cap="none" dirty="0" err="1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Sistem</a:t>
            </a:r>
            <a:r>
              <a:rPr lang="en-US" sz="1950" b="0" i="0" u="none" strike="noStrike" cap="none" dirty="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 de </a:t>
            </a:r>
            <a:r>
              <a:rPr lang="en-US" sz="1950" b="0" i="0" u="none" strike="noStrike" cap="none" dirty="0" err="1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interpretare</a:t>
            </a:r>
            <a:r>
              <a:rPr lang="en-US" sz="1950" b="0" i="0" u="none" strike="noStrike" cap="none" dirty="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 automata a </a:t>
            </a:r>
            <a:r>
              <a:rPr lang="en-US" sz="1950" b="0" i="0" u="none" strike="noStrike" cap="none" dirty="0" err="1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limbajului</a:t>
            </a:r>
            <a:r>
              <a:rPr lang="en-US" sz="1950" b="0" i="0" u="none" strike="noStrike" cap="none" dirty="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950" b="0" i="0" u="none" strike="noStrike" cap="none" dirty="0" err="1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semnelor</a:t>
            </a:r>
            <a:r>
              <a:rPr lang="en-US" sz="1950" b="0" i="0" u="none" strike="noStrike" cap="none" dirty="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950" b="0" i="0" u="none" strike="noStrike" cap="none" dirty="0" err="1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utilizand</a:t>
            </a:r>
            <a:r>
              <a:rPr lang="en-US" sz="1950" b="0" i="0" u="none" strike="noStrike" cap="none" dirty="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950" b="0" i="0" u="none" strike="noStrike" cap="none" dirty="0" err="1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tehnici</a:t>
            </a:r>
            <a:r>
              <a:rPr lang="en-US" sz="1950" b="0" i="0" u="none" strike="noStrike" cap="none" dirty="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 de AI </a:t>
            </a:r>
            <a:endParaRPr dirty="0"/>
          </a:p>
        </p:txBody>
      </p:sp>
      <p:sp>
        <p:nvSpPr>
          <p:cNvPr id="89" name="Google Shape;89;p13"/>
          <p:cNvSpPr txBox="1"/>
          <p:nvPr/>
        </p:nvSpPr>
        <p:spPr>
          <a:xfrm>
            <a:off x="1809750" y="5200489"/>
            <a:ext cx="6991350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chemeClr val="bg1"/>
                </a:solidFill>
                <a:latin typeface="DM Sans"/>
                <a:ea typeface="DM Sans"/>
                <a:cs typeface="DM Sans"/>
                <a:sym typeface="DM Sans"/>
              </a:rPr>
              <a:t>Student: Eusebiu Timpu</a:t>
            </a:r>
            <a:br>
              <a:rPr lang="en-US" sz="1500" b="0" i="0" u="none" strike="noStrike" cap="none" dirty="0">
                <a:solidFill>
                  <a:schemeClr val="bg1"/>
                </a:solidFill>
                <a:latin typeface="DM Sans"/>
                <a:ea typeface="DM Sans"/>
                <a:cs typeface="DM Sans"/>
                <a:sym typeface="DM Sans"/>
              </a:rPr>
            </a:br>
            <a:r>
              <a:rPr lang="en-US" sz="1500" b="0" i="0" u="none" strike="noStrike" cap="none" dirty="0">
                <a:solidFill>
                  <a:schemeClr val="bg1"/>
                </a:solidFill>
                <a:latin typeface="DM Sans"/>
                <a:ea typeface="DM Sans"/>
                <a:cs typeface="DM Sans"/>
                <a:sym typeface="DM Sans"/>
              </a:rPr>
              <a:t>An: IV</a:t>
            </a:r>
            <a:br>
              <a:rPr lang="en-US" sz="1500" b="0" i="0" u="none" strike="noStrike" cap="none" dirty="0">
                <a:solidFill>
                  <a:schemeClr val="bg1"/>
                </a:solidFill>
                <a:latin typeface="DM Sans"/>
                <a:ea typeface="DM Sans"/>
                <a:cs typeface="DM Sans"/>
                <a:sym typeface="DM Sans"/>
              </a:rPr>
            </a:br>
            <a:r>
              <a:rPr lang="en-US" sz="1500" b="0" i="0" u="none" strike="noStrike" cap="none" dirty="0">
                <a:solidFill>
                  <a:schemeClr val="bg1"/>
                </a:solidFill>
                <a:latin typeface="DM Sans"/>
                <a:ea typeface="DM Sans"/>
                <a:cs typeface="DM Sans"/>
                <a:sym typeface="DM Sans"/>
              </a:rPr>
              <a:t>Grupa : 2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endParaRPr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77015A4-D112-38E2-F681-2BC0C27B29ED}"/>
              </a:ext>
            </a:extLst>
          </p:cNvPr>
          <p:cNvPicPr/>
          <p:nvPr/>
        </p:nvPicPr>
        <p:blipFill>
          <a:blip r:embed="rId5"/>
          <a:stretch>
            <a:fillRect/>
          </a:stretch>
        </p:blipFill>
        <p:spPr>
          <a:xfrm>
            <a:off x="112421" y="130263"/>
            <a:ext cx="7108490" cy="1042611"/>
          </a:xfrm>
          <a:prstGeom prst="rect">
            <a:avLst/>
          </a:prstGeom>
        </p:spPr>
      </p:pic>
      <p:sp>
        <p:nvSpPr>
          <p:cNvPr id="3" name="Google Shape;89;p13">
            <a:extLst>
              <a:ext uri="{FF2B5EF4-FFF2-40B4-BE49-F238E27FC236}">
                <a16:creationId xmlns:a16="http://schemas.microsoft.com/office/drawing/2014/main" id="{2C5D4056-61F7-5B0B-F63A-EB74AF038CDA}"/>
              </a:ext>
            </a:extLst>
          </p:cNvPr>
          <p:cNvSpPr txBox="1"/>
          <p:nvPr/>
        </p:nvSpPr>
        <p:spPr>
          <a:xfrm>
            <a:off x="7636809" y="5200489"/>
            <a:ext cx="6991350" cy="6924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err="1">
                <a:solidFill>
                  <a:schemeClr val="bg1"/>
                </a:solidFill>
                <a:latin typeface="DM Sans"/>
                <a:ea typeface="DM Sans"/>
                <a:cs typeface="DM Sans"/>
                <a:sym typeface="DM Sans"/>
              </a:rPr>
              <a:t>Specializare</a:t>
            </a:r>
            <a:r>
              <a:rPr lang="en-US" sz="1500" b="0" i="0" u="none" strike="noStrike" cap="none" dirty="0">
                <a:solidFill>
                  <a:schemeClr val="bg1"/>
                </a:solidFill>
                <a:latin typeface="DM Sans"/>
                <a:ea typeface="DM Sans"/>
                <a:cs typeface="DM Sans"/>
                <a:sym typeface="DM Sans"/>
              </a:rPr>
              <a:t>: </a:t>
            </a:r>
            <a:r>
              <a:rPr lang="en-US" sz="1500" b="0" i="0" u="none" strike="noStrike" cap="none" dirty="0" err="1">
                <a:solidFill>
                  <a:schemeClr val="bg1"/>
                </a:solidFill>
                <a:latin typeface="DM Sans"/>
                <a:ea typeface="DM Sans"/>
                <a:cs typeface="DM Sans"/>
                <a:sym typeface="DM Sans"/>
              </a:rPr>
              <a:t>Automatica</a:t>
            </a:r>
            <a:r>
              <a:rPr lang="en-US" sz="1500" b="0" i="0" u="none" strike="noStrike" cap="none" dirty="0">
                <a:solidFill>
                  <a:schemeClr val="bg1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chemeClr val="bg1"/>
                </a:solidFill>
                <a:latin typeface="DM Sans"/>
                <a:ea typeface="DM Sans"/>
                <a:cs typeface="DM Sans"/>
                <a:sym typeface="DM Sans"/>
              </a:rPr>
              <a:t>si</a:t>
            </a:r>
            <a:br>
              <a:rPr lang="en-US" sz="1500" b="0" i="0" u="none" strike="noStrike" cap="none" dirty="0">
                <a:solidFill>
                  <a:schemeClr val="bg1"/>
                </a:solidFill>
                <a:latin typeface="DM Sans"/>
                <a:ea typeface="DM Sans"/>
                <a:cs typeface="DM Sans"/>
                <a:sym typeface="DM Sans"/>
              </a:rPr>
            </a:br>
            <a:r>
              <a:rPr lang="en-US" sz="1500" b="0" i="0" u="none" strike="noStrike" cap="none" dirty="0">
                <a:solidFill>
                  <a:schemeClr val="bg1"/>
                </a:solidFill>
                <a:latin typeface="DM Sans"/>
                <a:ea typeface="DM Sans"/>
                <a:cs typeface="DM Sans"/>
                <a:sym typeface="DM Sans"/>
              </a:rPr>
              <a:t>                         Informatica </a:t>
            </a:r>
            <a:r>
              <a:rPr lang="en-US" sz="1500" b="0" i="0" u="none" strike="noStrike" cap="none" dirty="0" err="1">
                <a:solidFill>
                  <a:schemeClr val="bg1"/>
                </a:solidFill>
                <a:latin typeface="DM Sans"/>
                <a:ea typeface="DM Sans"/>
                <a:cs typeface="DM Sans"/>
                <a:sym typeface="DM Sans"/>
              </a:rPr>
              <a:t>aplicata</a:t>
            </a:r>
            <a:endParaRPr lang="en-US" sz="1500" b="0" i="0" u="none" strike="noStrike" cap="none" dirty="0">
              <a:solidFill>
                <a:schemeClr val="bg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1419225"/>
            <a:ext cx="5238750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4"/>
          <p:cNvSpPr txBox="1"/>
          <p:nvPr/>
        </p:nvSpPr>
        <p:spPr>
          <a:xfrm>
            <a:off x="666750" y="476250"/>
            <a:ext cx="11401425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 dirty="0" err="1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Introducere</a:t>
            </a:r>
            <a:r>
              <a:rPr lang="en-US" sz="3150" b="1" i="0" u="none" strike="noStrike" cap="none" dirty="0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 </a:t>
            </a:r>
            <a:endParaRPr dirty="0"/>
          </a:p>
        </p:txBody>
      </p:sp>
      <p:sp>
        <p:nvSpPr>
          <p:cNvPr id="97" name="Google Shape;97;p14"/>
          <p:cNvSpPr/>
          <p:nvPr/>
        </p:nvSpPr>
        <p:spPr>
          <a:xfrm>
            <a:off x="666750" y="1066800"/>
            <a:ext cx="10858500" cy="19050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8" name="Google Shape;98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62700" y="1495425"/>
            <a:ext cx="5086350" cy="3657600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4"/>
          <p:cNvSpPr txBox="1"/>
          <p:nvPr/>
        </p:nvSpPr>
        <p:spPr>
          <a:xfrm>
            <a:off x="1000125" y="1571625"/>
            <a:ext cx="490537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Punte </a:t>
            </a:r>
            <a:r>
              <a:rPr lang="en-US" sz="1500" b="1" i="0" u="none" strike="noStrike" cap="none" dirty="0" err="1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între</a:t>
            </a:r>
            <a:r>
              <a:rPr lang="en-US" sz="1500" b="1" i="0" u="none" strike="noStrike" cap="none" dirty="0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1" i="0" u="none" strike="noStrike" cap="none" dirty="0" err="1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lumi</a:t>
            </a:r>
            <a:r>
              <a:rPr lang="en-US" sz="1500" b="1" i="0" u="none" strike="noStrike" cap="none" dirty="0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:</a:t>
            </a:r>
            <a:r>
              <a:rPr lang="en-US" sz="15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 Facilitarea </a:t>
            </a:r>
            <a:r>
              <a:rPr lang="en-US" sz="15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comunicării</a:t>
            </a:r>
            <a:r>
              <a:rPr lang="en-US" sz="15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directe</a:t>
            </a:r>
            <a:r>
              <a:rPr lang="en-US" sz="15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între</a:t>
            </a:r>
            <a:r>
              <a:rPr lang="en-US" sz="15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comunitatea</a:t>
            </a:r>
            <a:r>
              <a:rPr lang="en-US" sz="15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surdo-mută</a:t>
            </a:r>
            <a:r>
              <a:rPr lang="en-US" sz="15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și</a:t>
            </a:r>
            <a:r>
              <a:rPr lang="en-US" sz="15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mediul</a:t>
            </a:r>
            <a:r>
              <a:rPr lang="en-US" sz="15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profesional</a:t>
            </a:r>
            <a:r>
              <a:rPr lang="en-US" sz="15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/</a:t>
            </a:r>
            <a:r>
              <a:rPr lang="en-US" sz="15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educațional</a:t>
            </a:r>
            <a:r>
              <a:rPr lang="en-US" sz="15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.</a:t>
            </a:r>
            <a:endParaRPr dirty="0"/>
          </a:p>
        </p:txBody>
      </p:sp>
      <p:sp>
        <p:nvSpPr>
          <p:cNvPr id="100" name="Google Shape;100;p14"/>
          <p:cNvSpPr txBox="1"/>
          <p:nvPr/>
        </p:nvSpPr>
        <p:spPr>
          <a:xfrm>
            <a:off x="1000125" y="2628900"/>
            <a:ext cx="490537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Impact Social:</a:t>
            </a:r>
            <a:r>
              <a:rPr lang="en-US" sz="15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Peste</a:t>
            </a:r>
            <a:r>
              <a:rPr lang="en-US" sz="15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 30.000 de </a:t>
            </a:r>
            <a:r>
              <a:rPr lang="en-US" sz="15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utilizatori</a:t>
            </a:r>
            <a:r>
              <a:rPr lang="en-US" sz="15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potențiali</a:t>
            </a:r>
            <a:r>
              <a:rPr lang="en-US" sz="15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 de </a:t>
            </a:r>
            <a:r>
              <a:rPr lang="en-US" sz="15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LSR</a:t>
            </a:r>
            <a:r>
              <a:rPr lang="en-US" sz="15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 (</a:t>
            </a:r>
            <a:r>
              <a:rPr lang="en-US" sz="15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Limbajul</a:t>
            </a:r>
            <a:r>
              <a:rPr lang="en-US" sz="15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Semnelor</a:t>
            </a:r>
            <a:r>
              <a:rPr lang="en-US" sz="15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Românesc</a:t>
            </a:r>
            <a:r>
              <a:rPr lang="en-US" sz="15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) au </a:t>
            </a:r>
            <a:r>
              <a:rPr lang="en-US" sz="15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nevoie</a:t>
            </a:r>
            <a:r>
              <a:rPr lang="en-US" sz="15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 de </a:t>
            </a:r>
            <a:r>
              <a:rPr lang="en-US" sz="15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soluții</a:t>
            </a:r>
            <a:r>
              <a:rPr lang="en-US" sz="15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 de </a:t>
            </a:r>
            <a:r>
              <a:rPr lang="en-US" sz="15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accesibilitate</a:t>
            </a:r>
            <a:r>
              <a:rPr lang="en-US" sz="15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.</a:t>
            </a:r>
            <a:endParaRPr dirty="0"/>
          </a:p>
        </p:txBody>
      </p:sp>
      <p:sp>
        <p:nvSpPr>
          <p:cNvPr id="101" name="Google Shape;101;p14"/>
          <p:cNvSpPr txBox="1"/>
          <p:nvPr/>
        </p:nvSpPr>
        <p:spPr>
          <a:xfrm>
            <a:off x="1000125" y="3686175"/>
            <a:ext cx="490537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Independență și Privacy:</a:t>
            </a:r>
            <a:r>
              <a:rPr lang="en-US" sz="1500" b="0" i="0" u="none" strike="noStrike" cap="none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 Procesarea 100% locală (On-Edge) garantează securitatea datelor biometrice ale utilizatorului.</a:t>
            </a:r>
            <a:endParaRPr/>
          </a:p>
        </p:txBody>
      </p:sp>
      <p:sp>
        <p:nvSpPr>
          <p:cNvPr id="102" name="Google Shape;102;p14"/>
          <p:cNvSpPr txBox="1"/>
          <p:nvPr/>
        </p:nvSpPr>
        <p:spPr>
          <a:xfrm>
            <a:off x="1000125" y="4743450"/>
            <a:ext cx="490537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Motivație Tehnică:</a:t>
            </a:r>
            <a:r>
              <a:rPr lang="en-US" sz="1500" b="0" i="0" u="none" strike="noStrike" cap="none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 Integrarea tehnologiilor de Computer Vision cu modele secvențiale pentru traducere live.</a:t>
            </a:r>
            <a:endParaRPr/>
          </a:p>
        </p:txBody>
      </p:sp>
      <p:pic>
        <p:nvPicPr>
          <p:cNvPr id="103" name="Google Shape;103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66750" y="1624012"/>
            <a:ext cx="2190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1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66750" y="2681287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14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66750" y="3738562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14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66750" y="4795837"/>
            <a:ext cx="190500" cy="200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638300"/>
            <a:ext cx="3492549" cy="3219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799" y="1638300"/>
            <a:ext cx="3492549" cy="3219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8099" y="1638300"/>
            <a:ext cx="3492549" cy="3219450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5"/>
          <p:cNvSpPr txBox="1"/>
          <p:nvPr/>
        </p:nvSpPr>
        <p:spPr>
          <a:xfrm>
            <a:off x="571500" y="571500"/>
            <a:ext cx="11601450" cy="542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Stadiul</a:t>
            </a:r>
            <a:r>
              <a:rPr lang="en-US" sz="3300" b="1" i="0" u="none" strike="noStrike" cap="none" dirty="0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 Actual al </a:t>
            </a:r>
            <a:r>
              <a:rPr lang="en-US" sz="3300" b="1" i="0" u="none" strike="noStrike" cap="none" dirty="0" err="1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Domeniului</a:t>
            </a:r>
            <a:endParaRPr dirty="0"/>
          </a:p>
        </p:txBody>
      </p:sp>
      <p:sp>
        <p:nvSpPr>
          <p:cNvPr id="117" name="Google Shape;117;p15"/>
          <p:cNvSpPr/>
          <p:nvPr/>
        </p:nvSpPr>
        <p:spPr>
          <a:xfrm>
            <a:off x="571500" y="1238250"/>
            <a:ext cx="11049000" cy="19050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5"/>
          <p:cNvSpPr txBox="1"/>
          <p:nvPr/>
        </p:nvSpPr>
        <p:spPr>
          <a:xfrm>
            <a:off x="933450" y="2619375"/>
            <a:ext cx="297709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 err="1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Latența</a:t>
            </a:r>
            <a:r>
              <a:rPr lang="en-US" sz="2100" b="1" i="0" u="none" strike="noStrike" cap="none" dirty="0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 Cloud</a:t>
            </a:r>
            <a:endParaRPr dirty="0"/>
          </a:p>
        </p:txBody>
      </p:sp>
      <p:sp>
        <p:nvSpPr>
          <p:cNvPr id="119" name="Google Shape;119;p15"/>
          <p:cNvSpPr txBox="1"/>
          <p:nvPr/>
        </p:nvSpPr>
        <p:spPr>
          <a:xfrm>
            <a:off x="933450" y="3152775"/>
            <a:ext cx="2835324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Sistemele existente depind de servere externe, generând lag-uri inacceptabile în conversațiile live.</a:t>
            </a:r>
            <a:endParaRPr/>
          </a:p>
        </p:txBody>
      </p:sp>
      <p:sp>
        <p:nvSpPr>
          <p:cNvPr id="120" name="Google Shape;120;p15"/>
          <p:cNvSpPr txBox="1"/>
          <p:nvPr/>
        </p:nvSpPr>
        <p:spPr>
          <a:xfrm>
            <a:off x="4711749" y="2619375"/>
            <a:ext cx="297709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Biometrie &amp; Privacy</a:t>
            </a:r>
            <a:endParaRPr/>
          </a:p>
        </p:txBody>
      </p:sp>
      <p:sp>
        <p:nvSpPr>
          <p:cNvPr id="121" name="Google Shape;121;p15"/>
          <p:cNvSpPr txBox="1"/>
          <p:nvPr/>
        </p:nvSpPr>
        <p:spPr>
          <a:xfrm>
            <a:off x="4711749" y="3152775"/>
            <a:ext cx="2835324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Transferul fluxului video în cloud ridică riscuri majore de securitate. Soluția On-Edge elimină acest vector.</a:t>
            </a:r>
            <a:endParaRPr/>
          </a:p>
        </p:txBody>
      </p:sp>
      <p:sp>
        <p:nvSpPr>
          <p:cNvPr id="122" name="Google Shape;122;p15"/>
          <p:cNvSpPr txBox="1"/>
          <p:nvPr/>
        </p:nvSpPr>
        <p:spPr>
          <a:xfrm>
            <a:off x="8490049" y="2619375"/>
            <a:ext cx="297709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LSR &amp; Context</a:t>
            </a:r>
            <a:endParaRPr/>
          </a:p>
        </p:txBody>
      </p:sp>
      <p:sp>
        <p:nvSpPr>
          <p:cNvPr id="123" name="Google Shape;123;p15"/>
          <p:cNvSpPr txBox="1"/>
          <p:nvPr/>
        </p:nvSpPr>
        <p:spPr>
          <a:xfrm>
            <a:off x="8490049" y="3152775"/>
            <a:ext cx="2835324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Recunoașterea limbajului semnelor românesc (LSR) necesită adaptări specifice ale modelelor SLT.</a:t>
            </a:r>
            <a:endParaRPr/>
          </a:p>
        </p:txBody>
      </p:sp>
      <p:pic>
        <p:nvPicPr>
          <p:cNvPr id="124" name="Google Shape;124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33450" y="1981200"/>
            <a:ext cx="33337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15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711749" y="1981200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" name="Google Shape;126;p15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490049" y="1981200"/>
            <a:ext cx="476250" cy="381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16"/>
          <p:cNvSpPr txBox="1"/>
          <p:nvPr/>
        </p:nvSpPr>
        <p:spPr>
          <a:xfrm>
            <a:off x="666750" y="476250"/>
            <a:ext cx="11401425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 dirty="0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Metode </a:t>
            </a:r>
            <a:r>
              <a:rPr lang="en-US" sz="3150" b="1" i="0" u="none" strike="noStrike" cap="none" dirty="0" err="1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și</a:t>
            </a:r>
            <a:r>
              <a:rPr lang="en-US" sz="3150" b="1" i="0" u="none" strike="noStrike" cap="none" dirty="0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 </a:t>
            </a:r>
            <a:r>
              <a:rPr lang="en-US" sz="3150" b="1" i="0" u="none" strike="noStrike" cap="none" dirty="0" err="1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Tehnologii</a:t>
            </a:r>
            <a:r>
              <a:rPr lang="en-US" sz="3150" b="1" i="0" u="none" strike="noStrike" cap="none" dirty="0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 </a:t>
            </a:r>
            <a:r>
              <a:rPr lang="en-US" sz="3150" b="1" i="0" u="none" strike="noStrike" cap="none" dirty="0" err="1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Folosite</a:t>
            </a:r>
            <a:endParaRPr dirty="0"/>
          </a:p>
        </p:txBody>
      </p:sp>
      <p:sp>
        <p:nvSpPr>
          <p:cNvPr id="133" name="Google Shape;133;p16"/>
          <p:cNvSpPr/>
          <p:nvPr/>
        </p:nvSpPr>
        <p:spPr>
          <a:xfrm>
            <a:off x="666750" y="1066800"/>
            <a:ext cx="10858500" cy="19050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6"/>
          <p:cNvSpPr txBox="1"/>
          <p:nvPr/>
        </p:nvSpPr>
        <p:spPr>
          <a:xfrm>
            <a:off x="1000125" y="1571625"/>
            <a:ext cx="49053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MediaPipe Holistic:</a:t>
            </a:r>
            <a:r>
              <a:rPr lang="en-US" sz="1500" b="0" i="0" u="none" strike="noStrike" cap="none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 Pipeline de extragere a scheletului mâinilor și feței.</a:t>
            </a:r>
            <a:endParaRPr/>
          </a:p>
        </p:txBody>
      </p:sp>
      <p:sp>
        <p:nvSpPr>
          <p:cNvPr id="136" name="Google Shape;136;p16"/>
          <p:cNvSpPr txBox="1"/>
          <p:nvPr/>
        </p:nvSpPr>
        <p:spPr>
          <a:xfrm>
            <a:off x="1000125" y="2324100"/>
            <a:ext cx="49053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Arhitectură LSTM:</a:t>
            </a:r>
            <a:r>
              <a:rPr lang="en-US" sz="1500" b="0" i="0" u="none" strike="noStrike" cap="none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 Rețea neurală recurentă pentru învățarea contextului temporal al gesturilor.</a:t>
            </a:r>
            <a:endParaRPr/>
          </a:p>
        </p:txBody>
      </p:sp>
      <p:sp>
        <p:nvSpPr>
          <p:cNvPr id="137" name="Google Shape;137;p16"/>
          <p:cNvSpPr txBox="1"/>
          <p:nvPr/>
        </p:nvSpPr>
        <p:spPr>
          <a:xfrm>
            <a:off x="1000125" y="3076575"/>
            <a:ext cx="49053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ONNX Runtime:</a:t>
            </a:r>
            <a:r>
              <a:rPr lang="en-US" sz="1500" b="0" i="0" u="none" strike="noStrike" cap="none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 Format de model optimizat pentru inferență rapidă pe CPU local.</a:t>
            </a:r>
            <a:endParaRPr/>
          </a:p>
        </p:txBody>
      </p:sp>
      <p:sp>
        <p:nvSpPr>
          <p:cNvPr id="138" name="Google Shape;138;p16"/>
          <p:cNvSpPr txBox="1"/>
          <p:nvPr/>
        </p:nvSpPr>
        <p:spPr>
          <a:xfrm>
            <a:off x="1000125" y="3829050"/>
            <a:ext cx="49053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Stack Software:</a:t>
            </a:r>
            <a:r>
              <a:rPr lang="en-US" sz="1500" b="0" i="0" u="none" strike="noStrike" cap="none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 Python 3.10, PySide6 (GUI), OpenCV și pyttsx3 (Sinteză Vocală).</a:t>
            </a:r>
            <a:endParaRPr/>
          </a:p>
        </p:txBody>
      </p:sp>
      <p:pic>
        <p:nvPicPr>
          <p:cNvPr id="139" name="Google Shape;139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66750" y="1624012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66750" y="2376487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66750" y="3128962"/>
            <a:ext cx="2381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66750" y="3881437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8DD9206-E2E4-38F1-A211-22B6E4177DB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86502" y="1437248"/>
            <a:ext cx="5035644" cy="364917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638300"/>
            <a:ext cx="5429250" cy="1924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0" name="Google Shape;150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191250" y="1638300"/>
            <a:ext cx="5429250" cy="1924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1" name="Google Shape;151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752850"/>
            <a:ext cx="5429250" cy="1924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" name="Google Shape;152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191250" y="3752850"/>
            <a:ext cx="5429250" cy="1924050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17"/>
          <p:cNvSpPr txBox="1"/>
          <p:nvPr/>
        </p:nvSpPr>
        <p:spPr>
          <a:xfrm>
            <a:off x="571500" y="571500"/>
            <a:ext cx="11601450" cy="542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Funcționalități Proiectate</a:t>
            </a:r>
            <a:endParaRPr/>
          </a:p>
        </p:txBody>
      </p:sp>
      <p:sp>
        <p:nvSpPr>
          <p:cNvPr id="154" name="Google Shape;154;p17"/>
          <p:cNvSpPr/>
          <p:nvPr/>
        </p:nvSpPr>
        <p:spPr>
          <a:xfrm>
            <a:off x="571500" y="1238250"/>
            <a:ext cx="11049000" cy="19050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7"/>
          <p:cNvSpPr txBox="1"/>
          <p:nvPr/>
        </p:nvSpPr>
        <p:spPr>
          <a:xfrm>
            <a:off x="933450" y="1933575"/>
            <a:ext cx="5010626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Detecție &amp; Tracking</a:t>
            </a:r>
            <a:endParaRPr/>
          </a:p>
        </p:txBody>
      </p:sp>
      <p:sp>
        <p:nvSpPr>
          <p:cNvPr id="156" name="Google Shape;156;p17"/>
          <p:cNvSpPr txBox="1"/>
          <p:nvPr/>
        </p:nvSpPr>
        <p:spPr>
          <a:xfrm>
            <a:off x="933450" y="2466975"/>
            <a:ext cx="477202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Extracția automată a scheletului mâinilor și trăsăturilor faciale la 30 FPS.</a:t>
            </a:r>
            <a:endParaRPr/>
          </a:p>
        </p:txBody>
      </p:sp>
      <p:sp>
        <p:nvSpPr>
          <p:cNvPr id="157" name="Google Shape;157;p17"/>
          <p:cNvSpPr txBox="1"/>
          <p:nvPr/>
        </p:nvSpPr>
        <p:spPr>
          <a:xfrm>
            <a:off x="6553200" y="1933575"/>
            <a:ext cx="5010626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Traducere Live</a:t>
            </a:r>
            <a:endParaRPr/>
          </a:p>
        </p:txBody>
      </p:sp>
      <p:sp>
        <p:nvSpPr>
          <p:cNvPr id="158" name="Google Shape;158;p17"/>
          <p:cNvSpPr txBox="1"/>
          <p:nvPr/>
        </p:nvSpPr>
        <p:spPr>
          <a:xfrm>
            <a:off x="6553200" y="2466975"/>
            <a:ext cx="477202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Conversia gesturilor în text, afișat ca overlay subtitrat pe camera virtuală.</a:t>
            </a:r>
            <a:endParaRPr/>
          </a:p>
        </p:txBody>
      </p:sp>
      <p:sp>
        <p:nvSpPr>
          <p:cNvPr id="159" name="Google Shape;159;p17"/>
          <p:cNvSpPr txBox="1"/>
          <p:nvPr/>
        </p:nvSpPr>
        <p:spPr>
          <a:xfrm>
            <a:off x="933450" y="4048125"/>
            <a:ext cx="5010626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Sinteză Audio (TTS)</a:t>
            </a:r>
            <a:endParaRPr/>
          </a:p>
        </p:txBody>
      </p:sp>
      <p:sp>
        <p:nvSpPr>
          <p:cNvPr id="160" name="Google Shape;160;p17"/>
          <p:cNvSpPr txBox="1"/>
          <p:nvPr/>
        </p:nvSpPr>
        <p:spPr>
          <a:xfrm>
            <a:off x="933450" y="4581525"/>
            <a:ext cx="477202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Generarea automată a vocii sintetice pentru accesibilitate auditivă.</a:t>
            </a:r>
            <a:endParaRPr/>
          </a:p>
        </p:txBody>
      </p:sp>
      <p:sp>
        <p:nvSpPr>
          <p:cNvPr id="161" name="Google Shape;161;p17"/>
          <p:cNvSpPr txBox="1"/>
          <p:nvPr/>
        </p:nvSpPr>
        <p:spPr>
          <a:xfrm>
            <a:off x="6553200" y="4048125"/>
            <a:ext cx="5010626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Configurare UX</a:t>
            </a:r>
            <a:endParaRPr/>
          </a:p>
        </p:txBody>
      </p:sp>
      <p:sp>
        <p:nvSpPr>
          <p:cNvPr id="162" name="Google Shape;162;p17"/>
          <p:cNvSpPr txBox="1"/>
          <p:nvPr/>
        </p:nvSpPr>
        <p:spPr>
          <a:xfrm>
            <a:off x="6553200" y="4581525"/>
            <a:ext cx="477202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Panou de control pentru pragul de încredere (confidence) și selectarea sursei video.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7" name="Google Shape;167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18"/>
          <p:cNvSpPr txBox="1"/>
          <p:nvPr/>
        </p:nvSpPr>
        <p:spPr>
          <a:xfrm>
            <a:off x="571500" y="571500"/>
            <a:ext cx="11601450" cy="542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Arhitectură Hardware</a:t>
            </a:r>
            <a:endParaRPr/>
          </a:p>
        </p:txBody>
      </p:sp>
      <p:sp>
        <p:nvSpPr>
          <p:cNvPr id="169" name="Google Shape;169;p18"/>
          <p:cNvSpPr/>
          <p:nvPr/>
        </p:nvSpPr>
        <p:spPr>
          <a:xfrm>
            <a:off x="571500" y="1238250"/>
            <a:ext cx="11049000" cy="19050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8"/>
          <p:cNvSpPr txBox="1"/>
          <p:nvPr/>
        </p:nvSpPr>
        <p:spPr>
          <a:xfrm>
            <a:off x="571500" y="1798290"/>
            <a:ext cx="5286375" cy="13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0ms</a:t>
            </a:r>
            <a:endParaRPr/>
          </a:p>
        </p:txBody>
      </p:sp>
      <p:sp>
        <p:nvSpPr>
          <p:cNvPr id="171" name="Google Shape;171;p18"/>
          <p:cNvSpPr txBox="1"/>
          <p:nvPr/>
        </p:nvSpPr>
        <p:spPr>
          <a:xfrm>
            <a:off x="571500" y="3360390"/>
            <a:ext cx="5286375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Latență de Rețea (Offline AI)</a:t>
            </a:r>
            <a:endParaRPr/>
          </a:p>
        </p:txBody>
      </p:sp>
      <p:sp>
        <p:nvSpPr>
          <p:cNvPr id="172" name="Google Shape;172;p18"/>
          <p:cNvSpPr txBox="1"/>
          <p:nvPr/>
        </p:nvSpPr>
        <p:spPr>
          <a:xfrm>
            <a:off x="6334125" y="1638300"/>
            <a:ext cx="5550693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Configurație Sistem</a:t>
            </a:r>
            <a:endParaRPr/>
          </a:p>
        </p:txBody>
      </p:sp>
      <p:sp>
        <p:nvSpPr>
          <p:cNvPr id="173" name="Google Shape;173;p18"/>
          <p:cNvSpPr txBox="1"/>
          <p:nvPr/>
        </p:nvSpPr>
        <p:spPr>
          <a:xfrm>
            <a:off x="6762750" y="2133600"/>
            <a:ext cx="48577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CPU: Ryzen 5 5600H (Accelerare AVX2).</a:t>
            </a:r>
            <a:endParaRPr/>
          </a:p>
        </p:txBody>
      </p:sp>
      <p:sp>
        <p:nvSpPr>
          <p:cNvPr id="174" name="Google Shape;174;p18"/>
          <p:cNvSpPr txBox="1"/>
          <p:nvPr/>
        </p:nvSpPr>
        <p:spPr>
          <a:xfrm>
            <a:off x="6762750" y="2628900"/>
            <a:ext cx="48577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RAM: 16 GB DDR4 (Amprentă ~2GB).</a:t>
            </a:r>
            <a:endParaRPr/>
          </a:p>
        </p:txBody>
      </p:sp>
      <p:sp>
        <p:nvSpPr>
          <p:cNvPr id="175" name="Google Shape;175;p18"/>
          <p:cNvSpPr txBox="1"/>
          <p:nvPr/>
        </p:nvSpPr>
        <p:spPr>
          <a:xfrm>
            <a:off x="6762750" y="3124200"/>
            <a:ext cx="48577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Cameră: WebCam standard UVC (720p+).</a:t>
            </a:r>
            <a:endParaRPr/>
          </a:p>
        </p:txBody>
      </p:sp>
      <p:sp>
        <p:nvSpPr>
          <p:cNvPr id="176" name="Google Shape;176;p18"/>
          <p:cNvSpPr txBox="1"/>
          <p:nvPr/>
        </p:nvSpPr>
        <p:spPr>
          <a:xfrm>
            <a:off x="6762750" y="3619500"/>
            <a:ext cx="48577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Procesare 100% On-Edge.</a:t>
            </a:r>
            <a:endParaRPr/>
          </a:p>
        </p:txBody>
      </p:sp>
      <p:pic>
        <p:nvPicPr>
          <p:cNvPr id="177" name="Google Shape;177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2171700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8" name="Google Shape;178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2667000"/>
            <a:ext cx="2571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9" name="Google Shape;179;p18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334125" y="3162300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" name="Google Shape;180;p18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334125" y="3657600"/>
            <a:ext cx="285750" cy="247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3" name="Google Shape;183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66750" y="1419225"/>
            <a:ext cx="3492400" cy="2600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5" name="Google Shape;185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650" y="1419225"/>
            <a:ext cx="3492549" cy="2600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6" name="Google Shape;186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32700" y="1419225"/>
            <a:ext cx="3492400" cy="2600325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p19"/>
          <p:cNvSpPr txBox="1"/>
          <p:nvPr/>
        </p:nvSpPr>
        <p:spPr>
          <a:xfrm>
            <a:off x="666750" y="476250"/>
            <a:ext cx="11401425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 dirty="0" err="1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Arhitectura</a:t>
            </a:r>
            <a:r>
              <a:rPr lang="en-US" sz="3150" b="1" i="0" u="none" strike="noStrike" cap="none" dirty="0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 </a:t>
            </a:r>
            <a:r>
              <a:rPr lang="en-US" sz="3150" b="1" i="0" u="none" strike="noStrike" cap="none" dirty="0" err="1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Sistemului</a:t>
            </a:r>
            <a:r>
              <a:rPr lang="en-US" sz="3150" b="1" i="0" u="none" strike="noStrike" cap="none" dirty="0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: Software</a:t>
            </a:r>
            <a:endParaRPr dirty="0"/>
          </a:p>
        </p:txBody>
      </p:sp>
      <p:sp>
        <p:nvSpPr>
          <p:cNvPr id="188" name="Google Shape;188;p19"/>
          <p:cNvSpPr/>
          <p:nvPr/>
        </p:nvSpPr>
        <p:spPr>
          <a:xfrm>
            <a:off x="666750" y="1066800"/>
            <a:ext cx="10858500" cy="19050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9"/>
          <p:cNvSpPr txBox="1"/>
          <p:nvPr/>
        </p:nvSpPr>
        <p:spPr>
          <a:xfrm>
            <a:off x="666750" y="4305300"/>
            <a:ext cx="108585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1" u="none" strike="noStrike" cap="none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Arhitectură modulară ce decuplează procesarea matematică de randarea grafică.</a:t>
            </a:r>
            <a:endParaRPr/>
          </a:p>
        </p:txBody>
      </p:sp>
      <p:sp>
        <p:nvSpPr>
          <p:cNvPr id="190" name="Google Shape;190;p19"/>
          <p:cNvSpPr txBox="1"/>
          <p:nvPr/>
        </p:nvSpPr>
        <p:spPr>
          <a:xfrm>
            <a:off x="962025" y="1885950"/>
            <a:ext cx="3106950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Layer Viziune</a:t>
            </a:r>
            <a:endParaRPr/>
          </a:p>
        </p:txBody>
      </p:sp>
      <p:sp>
        <p:nvSpPr>
          <p:cNvPr id="191" name="Google Shape;191;p19"/>
          <p:cNvSpPr txBox="1"/>
          <p:nvPr/>
        </p:nvSpPr>
        <p:spPr>
          <a:xfrm>
            <a:off x="962025" y="2371725"/>
            <a:ext cx="2959000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OpenCV + MediaPipe:</a:t>
            </a:r>
            <a:r>
              <a:rPr lang="en-US" sz="1500" b="0" i="0" u="none" strike="noStrike" cap="none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 Captură asincronă și extragerea coordonatelor 3D ale landmarks-urilor.</a:t>
            </a:r>
            <a:endParaRPr/>
          </a:p>
        </p:txBody>
      </p:sp>
      <p:sp>
        <p:nvSpPr>
          <p:cNvPr id="192" name="Google Shape;192;p19"/>
          <p:cNvSpPr txBox="1"/>
          <p:nvPr/>
        </p:nvSpPr>
        <p:spPr>
          <a:xfrm>
            <a:off x="4644925" y="1885950"/>
            <a:ext cx="3107107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Layer AI (Engine)</a:t>
            </a:r>
            <a:endParaRPr/>
          </a:p>
        </p:txBody>
      </p:sp>
      <p:sp>
        <p:nvSpPr>
          <p:cNvPr id="193" name="Google Shape;193;p19"/>
          <p:cNvSpPr txBox="1"/>
          <p:nvPr/>
        </p:nvSpPr>
        <p:spPr>
          <a:xfrm>
            <a:off x="4644925" y="2371725"/>
            <a:ext cx="2959149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ONNX / LSTM:</a:t>
            </a:r>
            <a:r>
              <a:rPr lang="en-US" sz="1500" b="0" i="0" u="none" strike="noStrike" cap="none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 Inferența bazată pe ferestre glisante (sliding windows) de 30 de cadre.</a:t>
            </a:r>
            <a:endParaRPr/>
          </a:p>
        </p:txBody>
      </p:sp>
      <p:sp>
        <p:nvSpPr>
          <p:cNvPr id="194" name="Google Shape;194;p19"/>
          <p:cNvSpPr txBox="1"/>
          <p:nvPr/>
        </p:nvSpPr>
        <p:spPr>
          <a:xfrm>
            <a:off x="8327975" y="1885950"/>
            <a:ext cx="3106950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Layer Prezentare</a:t>
            </a:r>
            <a:endParaRPr/>
          </a:p>
        </p:txBody>
      </p:sp>
      <p:sp>
        <p:nvSpPr>
          <p:cNvPr id="195" name="Google Shape;195;p19"/>
          <p:cNvSpPr txBox="1"/>
          <p:nvPr/>
        </p:nvSpPr>
        <p:spPr>
          <a:xfrm>
            <a:off x="8327975" y="2371725"/>
            <a:ext cx="2959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PySide6:</a:t>
            </a:r>
            <a:r>
              <a:rPr lang="en-US" sz="1500" b="0" i="0" u="none" strike="noStrike" cap="none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 Gestionarea firelor de execuție (QThreads) pentru a asigura o interfață fluidă.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8" name="Google Shape;198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9" name="Google Shape;199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638300"/>
            <a:ext cx="3492549" cy="3143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0" name="Google Shape;200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799" y="1638300"/>
            <a:ext cx="3492549" cy="3143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1" name="Google Shape;201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8099" y="1638300"/>
            <a:ext cx="3492549" cy="3143250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20"/>
          <p:cNvSpPr txBox="1"/>
          <p:nvPr/>
        </p:nvSpPr>
        <p:spPr>
          <a:xfrm>
            <a:off x="571500" y="571500"/>
            <a:ext cx="11601450" cy="542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Arhitectura de Comunicații</a:t>
            </a:r>
            <a:endParaRPr/>
          </a:p>
        </p:txBody>
      </p:sp>
      <p:sp>
        <p:nvSpPr>
          <p:cNvPr id="203" name="Google Shape;203;p20"/>
          <p:cNvSpPr/>
          <p:nvPr/>
        </p:nvSpPr>
        <p:spPr>
          <a:xfrm>
            <a:off x="571500" y="1238250"/>
            <a:ext cx="11049000" cy="19050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4" name="Google Shape;204;p20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33450" y="1933575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0"/>
          <p:cNvSpPr txBox="1"/>
          <p:nvPr/>
        </p:nvSpPr>
        <p:spPr>
          <a:xfrm>
            <a:off x="933450" y="2505075"/>
            <a:ext cx="297709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Inter-Process (IPC)</a:t>
            </a:r>
            <a:endParaRPr/>
          </a:p>
        </p:txBody>
      </p:sp>
      <p:sp>
        <p:nvSpPr>
          <p:cNvPr id="206" name="Google Shape;206;p20"/>
          <p:cNvSpPr txBox="1"/>
          <p:nvPr/>
        </p:nvSpPr>
        <p:spPr>
          <a:xfrm>
            <a:off x="933450" y="3038475"/>
            <a:ext cx="2835324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Transfer de date via Shared Memory între motorul AI și interfața grafică Qt.</a:t>
            </a:r>
            <a:endParaRPr/>
          </a:p>
        </p:txBody>
      </p:sp>
      <p:pic>
        <p:nvPicPr>
          <p:cNvPr id="207" name="Google Shape;207;p20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711749" y="1933575"/>
            <a:ext cx="28575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0"/>
          <p:cNvSpPr txBox="1"/>
          <p:nvPr/>
        </p:nvSpPr>
        <p:spPr>
          <a:xfrm>
            <a:off x="4711749" y="2505075"/>
            <a:ext cx="297709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Virtual Bridge</a:t>
            </a:r>
            <a:endParaRPr/>
          </a:p>
        </p:txBody>
      </p:sp>
      <p:sp>
        <p:nvSpPr>
          <p:cNvPr id="209" name="Google Shape;209;p20"/>
          <p:cNvSpPr txBox="1"/>
          <p:nvPr/>
        </p:nvSpPr>
        <p:spPr>
          <a:xfrm>
            <a:off x="4711749" y="3038475"/>
            <a:ext cx="2835324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Integrare tip "Middleware" între camera fizică și platformele Zoom/Teams.</a:t>
            </a:r>
            <a:endParaRPr/>
          </a:p>
        </p:txBody>
      </p:sp>
      <p:pic>
        <p:nvPicPr>
          <p:cNvPr id="210" name="Google Shape;210;p20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490049" y="1933575"/>
            <a:ext cx="47625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20"/>
          <p:cNvSpPr txBox="1"/>
          <p:nvPr/>
        </p:nvSpPr>
        <p:spPr>
          <a:xfrm>
            <a:off x="8490049" y="2505075"/>
            <a:ext cx="297709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DirectShow Integration</a:t>
            </a:r>
            <a:endParaRPr/>
          </a:p>
        </p:txBody>
      </p:sp>
      <p:sp>
        <p:nvSpPr>
          <p:cNvPr id="212" name="Google Shape;212;p20"/>
          <p:cNvSpPr txBox="1"/>
          <p:nvPr/>
        </p:nvSpPr>
        <p:spPr>
          <a:xfrm>
            <a:off x="8490049" y="3381375"/>
            <a:ext cx="2835324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Înregistrarea sistemului ca dispozitiv periferic virtual nativ în Windows.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3" name="Google Shape;213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4" name="Google Shape;214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1419225"/>
            <a:ext cx="5238750" cy="4171950"/>
          </a:xfrm>
          <a:prstGeom prst="rect">
            <a:avLst/>
          </a:prstGeom>
          <a:noFill/>
          <a:ln>
            <a:noFill/>
          </a:ln>
        </p:spPr>
      </p:pic>
      <p:sp>
        <p:nvSpPr>
          <p:cNvPr id="215" name="Google Shape;215;p21"/>
          <p:cNvSpPr txBox="1"/>
          <p:nvPr/>
        </p:nvSpPr>
        <p:spPr>
          <a:xfrm>
            <a:off x="666750" y="476250"/>
            <a:ext cx="11401425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 dirty="0" err="1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Arhitectura</a:t>
            </a:r>
            <a:r>
              <a:rPr lang="en-US" sz="3150" b="1" i="0" u="none" strike="noStrike" cap="none" dirty="0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 </a:t>
            </a:r>
            <a:r>
              <a:rPr lang="en-US" sz="3150" b="1" i="0" u="none" strike="noStrike" cap="none" dirty="0" err="1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Mixtă</a:t>
            </a:r>
            <a:endParaRPr dirty="0"/>
          </a:p>
        </p:txBody>
      </p:sp>
      <p:sp>
        <p:nvSpPr>
          <p:cNvPr id="216" name="Google Shape;216;p21"/>
          <p:cNvSpPr/>
          <p:nvPr/>
        </p:nvSpPr>
        <p:spPr>
          <a:xfrm>
            <a:off x="666750" y="1066800"/>
            <a:ext cx="10858500" cy="19050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21"/>
          <p:cNvSpPr txBox="1"/>
          <p:nvPr/>
        </p:nvSpPr>
        <p:spPr>
          <a:xfrm>
            <a:off x="666750" y="1609725"/>
            <a:ext cx="52387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Integrarea strânsă între resursele hardware și blocurile software:</a:t>
            </a:r>
            <a:endParaRPr/>
          </a:p>
        </p:txBody>
      </p:sp>
      <p:pic>
        <p:nvPicPr>
          <p:cNvPr id="218" name="Google Shape;218;p2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505825" y="2628900"/>
            <a:ext cx="85725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21"/>
          <p:cNvSpPr txBox="1"/>
          <p:nvPr/>
        </p:nvSpPr>
        <p:spPr>
          <a:xfrm>
            <a:off x="6791325" y="3581400"/>
            <a:ext cx="42862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Simbioză HW/SW: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 Performanță în timp real pe dispozitive standard.</a:t>
            </a:r>
            <a:endParaRPr/>
          </a:p>
        </p:txBody>
      </p:sp>
      <p:sp>
        <p:nvSpPr>
          <p:cNvPr id="220" name="Google Shape;220;p21"/>
          <p:cNvSpPr txBox="1"/>
          <p:nvPr/>
        </p:nvSpPr>
        <p:spPr>
          <a:xfrm>
            <a:off x="1000125" y="2409825"/>
            <a:ext cx="490537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Co-proiectare:</a:t>
            </a:r>
            <a:r>
              <a:rPr lang="en-US" sz="1500" b="0" i="0" u="none" strike="noStrike" cap="none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 Algoritmii sunt optimizați pentru a utiliza instrucțiunile vectoriale ale procesorului (SIMD/AVX2).</a:t>
            </a:r>
            <a:endParaRPr/>
          </a:p>
        </p:txBody>
      </p:sp>
      <p:sp>
        <p:nvSpPr>
          <p:cNvPr id="221" name="Google Shape;221;p21"/>
          <p:cNvSpPr txBox="1"/>
          <p:nvPr/>
        </p:nvSpPr>
        <p:spPr>
          <a:xfrm>
            <a:off x="1000125" y="3467100"/>
            <a:ext cx="490537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Feedback Loop:</a:t>
            </a:r>
            <a:r>
              <a:rPr lang="en-US" sz="1500" b="0" i="0" u="none" strike="noStrike" cap="none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 Hardware-ul de captură (Camera) alimentează buffer-ul RAM, care este imediat procesat de modelul AI On-Edge.</a:t>
            </a:r>
            <a:endParaRPr/>
          </a:p>
        </p:txBody>
      </p:sp>
      <p:sp>
        <p:nvSpPr>
          <p:cNvPr id="222" name="Google Shape;222;p21"/>
          <p:cNvSpPr txBox="1"/>
          <p:nvPr/>
        </p:nvSpPr>
        <p:spPr>
          <a:xfrm>
            <a:off x="1000125" y="4524375"/>
            <a:ext cx="490537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Output Compozit:</a:t>
            </a:r>
            <a:r>
              <a:rPr lang="en-US" sz="1500" b="0" i="0" u="none" strike="noStrike" cap="none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 Rezultatul este o îmbinare între video-ul original (hardware) și metadatele traduse (software).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7" name="Google Shape;227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66750" y="4388346"/>
            <a:ext cx="10858500" cy="2857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9" name="Google Shape;229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66750" y="1895475"/>
            <a:ext cx="2497335" cy="21118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22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453705" y="1895475"/>
            <a:ext cx="2497335" cy="21118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31" name="Google Shape;231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40660" y="1895475"/>
            <a:ext cx="2497335" cy="21118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32" name="Google Shape;232;p22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027616" y="1895475"/>
            <a:ext cx="2497335" cy="2111871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22"/>
          <p:cNvSpPr txBox="1"/>
          <p:nvPr/>
        </p:nvSpPr>
        <p:spPr>
          <a:xfrm>
            <a:off x="666750" y="476250"/>
            <a:ext cx="11401425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 dirty="0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 </a:t>
            </a:r>
            <a:r>
              <a:rPr lang="en-US" sz="3150" b="1" i="0" u="none" strike="noStrike" cap="none" dirty="0" err="1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Scenarii</a:t>
            </a:r>
            <a:r>
              <a:rPr lang="en-US" sz="3150" b="1" i="0" u="none" strike="noStrike" cap="none" dirty="0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 de </a:t>
            </a:r>
            <a:r>
              <a:rPr lang="en-US" sz="3150" b="1" i="0" u="none" strike="noStrike" cap="none" dirty="0" err="1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Utilizare</a:t>
            </a:r>
            <a:endParaRPr dirty="0"/>
          </a:p>
        </p:txBody>
      </p:sp>
      <p:sp>
        <p:nvSpPr>
          <p:cNvPr id="234" name="Google Shape;234;p22"/>
          <p:cNvSpPr/>
          <p:nvPr/>
        </p:nvSpPr>
        <p:spPr>
          <a:xfrm>
            <a:off x="666750" y="1066800"/>
            <a:ext cx="10858500" cy="19050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22"/>
          <p:cNvSpPr/>
          <p:nvPr/>
        </p:nvSpPr>
        <p:spPr>
          <a:xfrm>
            <a:off x="666750" y="1880250"/>
            <a:ext cx="10858500" cy="19050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22"/>
          <p:cNvSpPr txBox="1"/>
          <p:nvPr/>
        </p:nvSpPr>
        <p:spPr>
          <a:xfrm>
            <a:off x="866775" y="2273796"/>
            <a:ext cx="2202150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Configurare</a:t>
            </a:r>
            <a:endParaRPr/>
          </a:p>
        </p:txBody>
      </p:sp>
      <p:sp>
        <p:nvSpPr>
          <p:cNvPr id="238" name="Google Shape;238;p22"/>
          <p:cNvSpPr txBox="1"/>
          <p:nvPr/>
        </p:nvSpPr>
        <p:spPr>
          <a:xfrm>
            <a:off x="866775" y="2702421"/>
            <a:ext cx="209728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Lansarea</a:t>
            </a:r>
            <a:r>
              <a:rPr lang="en-US" sz="15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DeafEar</a:t>
            </a:r>
            <a:r>
              <a:rPr lang="en-US" sz="15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și</a:t>
            </a:r>
            <a:r>
              <a:rPr lang="en-US" sz="15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calibrarea</a:t>
            </a:r>
            <a:r>
              <a:rPr lang="en-US" sz="15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camerei</a:t>
            </a:r>
            <a:r>
              <a:rPr lang="en-US" sz="15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în</a:t>
            </a:r>
            <a:r>
              <a:rPr lang="en-US" sz="15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interfața</a:t>
            </a:r>
            <a:r>
              <a:rPr lang="en-US" sz="15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 de preview.</a:t>
            </a:r>
            <a:endParaRPr dirty="0"/>
          </a:p>
        </p:txBody>
      </p:sp>
      <p:sp>
        <p:nvSpPr>
          <p:cNvPr id="239" name="Google Shape;239;p22"/>
          <p:cNvSpPr txBox="1"/>
          <p:nvPr/>
        </p:nvSpPr>
        <p:spPr>
          <a:xfrm>
            <a:off x="3653730" y="2273796"/>
            <a:ext cx="2202150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Integrare</a:t>
            </a:r>
            <a:endParaRPr/>
          </a:p>
        </p:txBody>
      </p:sp>
      <p:sp>
        <p:nvSpPr>
          <p:cNvPr id="240" name="Google Shape;240;p22"/>
          <p:cNvSpPr txBox="1"/>
          <p:nvPr/>
        </p:nvSpPr>
        <p:spPr>
          <a:xfrm>
            <a:off x="3653730" y="2702421"/>
            <a:ext cx="209728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Selectarea "DeafEar Camera" ca sursă video în Zoom sau Teams.</a:t>
            </a:r>
            <a:endParaRPr/>
          </a:p>
        </p:txBody>
      </p:sp>
      <p:sp>
        <p:nvSpPr>
          <p:cNvPr id="241" name="Google Shape;241;p22"/>
          <p:cNvSpPr txBox="1"/>
          <p:nvPr/>
        </p:nvSpPr>
        <p:spPr>
          <a:xfrm>
            <a:off x="6440685" y="2273796"/>
            <a:ext cx="2202150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Sesiune Live</a:t>
            </a:r>
            <a:endParaRPr/>
          </a:p>
        </p:txBody>
      </p:sp>
      <p:sp>
        <p:nvSpPr>
          <p:cNvPr id="242" name="Google Shape;242;p22"/>
          <p:cNvSpPr txBox="1"/>
          <p:nvPr/>
        </p:nvSpPr>
        <p:spPr>
          <a:xfrm>
            <a:off x="6440685" y="2702421"/>
            <a:ext cx="209728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Utilizatorul semnează; sistemul traduce automat și redă audio.</a:t>
            </a:r>
            <a:endParaRPr/>
          </a:p>
        </p:txBody>
      </p:sp>
      <p:sp>
        <p:nvSpPr>
          <p:cNvPr id="243" name="Google Shape;243;p22"/>
          <p:cNvSpPr txBox="1"/>
          <p:nvPr/>
        </p:nvSpPr>
        <p:spPr>
          <a:xfrm>
            <a:off x="9227641" y="2273796"/>
            <a:ext cx="2202150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Finalizare</a:t>
            </a:r>
            <a:endParaRPr/>
          </a:p>
        </p:txBody>
      </p:sp>
      <p:sp>
        <p:nvSpPr>
          <p:cNvPr id="244" name="Google Shape;244;p22"/>
          <p:cNvSpPr txBox="1"/>
          <p:nvPr/>
        </p:nvSpPr>
        <p:spPr>
          <a:xfrm>
            <a:off x="9227641" y="2702421"/>
            <a:ext cx="209728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Salvarea istoricului și închiderea dispozitivelor virtuale.</a:t>
            </a:r>
            <a:endParaRPr/>
          </a:p>
        </p:txBody>
      </p:sp>
      <p:sp>
        <p:nvSpPr>
          <p:cNvPr id="245" name="Google Shape;245;p22"/>
          <p:cNvSpPr/>
          <p:nvPr/>
        </p:nvSpPr>
        <p:spPr>
          <a:xfrm>
            <a:off x="1879660" y="1781679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22"/>
          <p:cNvSpPr/>
          <p:nvPr/>
        </p:nvSpPr>
        <p:spPr>
          <a:xfrm>
            <a:off x="4611754" y="1792784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22"/>
          <p:cNvSpPr/>
          <p:nvPr/>
        </p:nvSpPr>
        <p:spPr>
          <a:xfrm>
            <a:off x="7413127" y="1781679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22"/>
          <p:cNvSpPr/>
          <p:nvPr/>
        </p:nvSpPr>
        <p:spPr>
          <a:xfrm>
            <a:off x="10236140" y="1781679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5FB63AB-6AA4-8B9C-B1C7-1ECBF0B3EC0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6750" y="4385667"/>
            <a:ext cx="10933672" cy="252046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4" name="Google Shape;254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1419225"/>
            <a:ext cx="5238750" cy="3333750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p23"/>
          <p:cNvSpPr txBox="1"/>
          <p:nvPr/>
        </p:nvSpPr>
        <p:spPr>
          <a:xfrm>
            <a:off x="666750" y="476250"/>
            <a:ext cx="11401425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 dirty="0" err="1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Implementare</a:t>
            </a:r>
            <a:r>
              <a:rPr lang="en-US" sz="3150" b="1" i="0" u="none" strike="noStrike" cap="none" dirty="0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 Agile: Backlog </a:t>
            </a:r>
            <a:r>
              <a:rPr lang="en-US" sz="3150" b="1" i="0" u="none" strike="noStrike" cap="none" dirty="0" err="1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și</a:t>
            </a:r>
            <a:r>
              <a:rPr lang="en-US" sz="3150" b="1" i="0" u="none" strike="noStrike" cap="none" dirty="0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 </a:t>
            </a:r>
            <a:r>
              <a:rPr lang="en-US" sz="3150" b="1" i="0" u="none" strike="noStrike" cap="none" dirty="0" err="1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Epice</a:t>
            </a:r>
            <a:endParaRPr dirty="0"/>
          </a:p>
        </p:txBody>
      </p:sp>
      <p:sp>
        <p:nvSpPr>
          <p:cNvPr id="256" name="Google Shape;256;p23"/>
          <p:cNvSpPr/>
          <p:nvPr/>
        </p:nvSpPr>
        <p:spPr>
          <a:xfrm>
            <a:off x="666750" y="1066800"/>
            <a:ext cx="10858500" cy="19050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23"/>
          <p:cNvSpPr txBox="1"/>
          <p:nvPr/>
        </p:nvSpPr>
        <p:spPr>
          <a:xfrm>
            <a:off x="666750" y="1597521"/>
            <a:ext cx="5500687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Product Backlog</a:t>
            </a:r>
            <a:endParaRPr/>
          </a:p>
        </p:txBody>
      </p:sp>
      <p:pic>
        <p:nvPicPr>
          <p:cNvPr id="258" name="Google Shape;258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62700" y="1495425"/>
            <a:ext cx="5086350" cy="3181350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23"/>
          <p:cNvSpPr txBox="1"/>
          <p:nvPr/>
        </p:nvSpPr>
        <p:spPr>
          <a:xfrm>
            <a:off x="1000125" y="2013942"/>
            <a:ext cx="49053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Epica 1 (Core AI):</a:t>
            </a:r>
            <a:r>
              <a:rPr lang="en-US" sz="1500" b="0" i="0" u="none" strike="noStrike" cap="none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 Colectare dataset LSR și antrenare model LSTM.</a:t>
            </a:r>
            <a:endParaRPr/>
          </a:p>
        </p:txBody>
      </p:sp>
      <p:sp>
        <p:nvSpPr>
          <p:cNvPr id="260" name="Google Shape;260;p23"/>
          <p:cNvSpPr txBox="1"/>
          <p:nvPr/>
        </p:nvSpPr>
        <p:spPr>
          <a:xfrm>
            <a:off x="1000125" y="2766417"/>
            <a:ext cx="49053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Epica 2 (Vision Pipe):</a:t>
            </a:r>
            <a:r>
              <a:rPr lang="en-US" sz="1500" b="0" i="0" u="none" strike="noStrike" cap="none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 Extracție landmarks și normalizare coordonate.</a:t>
            </a:r>
            <a:endParaRPr/>
          </a:p>
        </p:txBody>
      </p:sp>
      <p:sp>
        <p:nvSpPr>
          <p:cNvPr id="261" name="Google Shape;261;p23"/>
          <p:cNvSpPr txBox="1"/>
          <p:nvPr/>
        </p:nvSpPr>
        <p:spPr>
          <a:xfrm>
            <a:off x="1000125" y="3518892"/>
            <a:ext cx="49053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Epica 3 (Integration):</a:t>
            </a:r>
            <a:r>
              <a:rPr lang="en-US" sz="1500" b="0" i="0" u="none" strike="noStrike" cap="none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 Dezvoltare driver Virtual Camera și overlay grafic.</a:t>
            </a:r>
            <a:endParaRPr/>
          </a:p>
        </p:txBody>
      </p:sp>
      <p:sp>
        <p:nvSpPr>
          <p:cNvPr id="262" name="Google Shape;262;p23"/>
          <p:cNvSpPr txBox="1"/>
          <p:nvPr/>
        </p:nvSpPr>
        <p:spPr>
          <a:xfrm>
            <a:off x="1000125" y="4271367"/>
            <a:ext cx="49053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Epica 4 (UI/UX):</a:t>
            </a:r>
            <a:r>
              <a:rPr lang="en-US" sz="1500" b="0" i="0" u="none" strike="noStrike" cap="none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 Dashboard setări și motor Text-to-Speech.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7" name="Google Shape;267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8" name="Google Shape;268;p24"/>
          <p:cNvSpPr txBox="1"/>
          <p:nvPr/>
        </p:nvSpPr>
        <p:spPr>
          <a:xfrm>
            <a:off x="666750" y="476250"/>
            <a:ext cx="11401425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 dirty="0" err="1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Divizare</a:t>
            </a:r>
            <a:r>
              <a:rPr lang="en-US" sz="3150" b="1" i="0" u="none" strike="noStrike" cap="none" dirty="0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 </a:t>
            </a:r>
            <a:r>
              <a:rPr lang="en-US" sz="3150" b="1" i="0" u="none" strike="noStrike" cap="none" dirty="0" err="1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în</a:t>
            </a:r>
            <a:r>
              <a:rPr lang="en-US" sz="3150" b="1" i="0" u="none" strike="noStrike" cap="none" dirty="0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 </a:t>
            </a:r>
            <a:r>
              <a:rPr lang="en-US" sz="3150" b="1" i="0" u="none" strike="noStrike" cap="none" dirty="0" err="1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Sprinturi</a:t>
            </a:r>
            <a:endParaRPr dirty="0"/>
          </a:p>
        </p:txBody>
      </p:sp>
      <p:sp>
        <p:nvSpPr>
          <p:cNvPr id="269" name="Google Shape;269;p24"/>
          <p:cNvSpPr/>
          <p:nvPr/>
        </p:nvSpPr>
        <p:spPr>
          <a:xfrm>
            <a:off x="666750" y="1066800"/>
            <a:ext cx="10858500" cy="19050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24"/>
          <p:cNvSpPr/>
          <p:nvPr/>
        </p:nvSpPr>
        <p:spPr>
          <a:xfrm>
            <a:off x="666750" y="1419225"/>
            <a:ext cx="10858500" cy="285750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71" name="Google Shape;271;p24"/>
          <p:cNvGraphicFramePr/>
          <p:nvPr/>
        </p:nvGraphicFramePr>
        <p:xfrm>
          <a:off x="666750" y="1419225"/>
          <a:ext cx="10858525" cy="2857500"/>
        </p:xfrm>
        <a:graphic>
          <a:graphicData uri="http://schemas.openxmlformats.org/drawingml/2006/table">
            <a:tbl>
              <a:tblPr firstRow="1" bandRow="1">
                <a:noFill/>
                <a:tableStyleId>{0F5FA897-6AA5-4DFD-8350-5D5EDDA31D35}</a:tableStyleId>
              </a:tblPr>
              <a:tblGrid>
                <a:gridCol w="1734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204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03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i="0" u="none" strike="noStrike" cap="none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Sprint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i="0" u="none" strike="noStrike" cap="none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Focus Principal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i="0" u="none" strike="noStrike" cap="none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Rezultat (Deliverable)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50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Sprint 1-2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Cercetare &amp; Data Acquisition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Dataset LSR validat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Sprint 3-4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Model Training &amp; ONNX Export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Model AI funcțional (.onnx)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Sprint 5-6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Vision Module &amp; GUI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Interfață stabilă cu tracking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Sprint 7-8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System Integration &amp; QA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Produs final integrat în Zoom/Teams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72" name="Google Shape;272;p24"/>
          <p:cNvSpPr txBox="1"/>
          <p:nvPr/>
        </p:nvSpPr>
        <p:spPr>
          <a:xfrm>
            <a:off x="666750" y="4467225"/>
            <a:ext cx="108585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Metodologie:</a:t>
            </a:r>
            <a:r>
              <a:rPr lang="en-US" sz="1500" b="0" i="0" u="none" strike="noStrike" cap="none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 Sprint-uri de 2 săptămâni cu revizuiri incrementale (metoda Scrum adaptată individual).</a:t>
            </a:r>
            <a:endParaRPr/>
          </a:p>
        </p:txBody>
      </p:sp>
      <p:sp>
        <p:nvSpPr>
          <p:cNvPr id="273" name="Google Shape;273;p24"/>
          <p:cNvSpPr/>
          <p:nvPr/>
        </p:nvSpPr>
        <p:spPr>
          <a:xfrm>
            <a:off x="666750" y="2462212"/>
            <a:ext cx="1734591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24"/>
          <p:cNvSpPr/>
          <p:nvPr/>
        </p:nvSpPr>
        <p:spPr>
          <a:xfrm>
            <a:off x="2401341" y="2462212"/>
            <a:ext cx="422046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24"/>
          <p:cNvSpPr/>
          <p:nvPr/>
        </p:nvSpPr>
        <p:spPr>
          <a:xfrm>
            <a:off x="6621809" y="2462212"/>
            <a:ext cx="490344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24"/>
          <p:cNvSpPr/>
          <p:nvPr/>
        </p:nvSpPr>
        <p:spPr>
          <a:xfrm>
            <a:off x="666750" y="3062287"/>
            <a:ext cx="1734591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24"/>
          <p:cNvSpPr/>
          <p:nvPr/>
        </p:nvSpPr>
        <p:spPr>
          <a:xfrm>
            <a:off x="2401341" y="3062287"/>
            <a:ext cx="422046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4"/>
          <p:cNvSpPr/>
          <p:nvPr/>
        </p:nvSpPr>
        <p:spPr>
          <a:xfrm>
            <a:off x="6621809" y="3062287"/>
            <a:ext cx="490344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24"/>
          <p:cNvSpPr/>
          <p:nvPr/>
        </p:nvSpPr>
        <p:spPr>
          <a:xfrm>
            <a:off x="666750" y="3662362"/>
            <a:ext cx="1734591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24"/>
          <p:cNvSpPr/>
          <p:nvPr/>
        </p:nvSpPr>
        <p:spPr>
          <a:xfrm>
            <a:off x="2401341" y="3662362"/>
            <a:ext cx="422046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24"/>
          <p:cNvSpPr/>
          <p:nvPr/>
        </p:nvSpPr>
        <p:spPr>
          <a:xfrm>
            <a:off x="6621809" y="3662362"/>
            <a:ext cx="490344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24"/>
          <p:cNvSpPr/>
          <p:nvPr/>
        </p:nvSpPr>
        <p:spPr>
          <a:xfrm>
            <a:off x="666750" y="4262437"/>
            <a:ext cx="1734591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24"/>
          <p:cNvSpPr/>
          <p:nvPr/>
        </p:nvSpPr>
        <p:spPr>
          <a:xfrm>
            <a:off x="2401341" y="4262437"/>
            <a:ext cx="422046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24"/>
          <p:cNvSpPr/>
          <p:nvPr/>
        </p:nvSpPr>
        <p:spPr>
          <a:xfrm>
            <a:off x="6621809" y="4262437"/>
            <a:ext cx="490344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9" name="Google Shape;289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0" name="Google Shape;290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66750" y="1419225"/>
            <a:ext cx="3460700" cy="2381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1" name="Google Shape;291;p2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65575" y="1419225"/>
            <a:ext cx="3460700" cy="2381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2" name="Google Shape;292;p2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064400" y="1419225"/>
            <a:ext cx="3460849" cy="2381250"/>
          </a:xfrm>
          <a:prstGeom prst="rect">
            <a:avLst/>
          </a:prstGeom>
          <a:noFill/>
          <a:ln>
            <a:noFill/>
          </a:ln>
        </p:spPr>
      </p:pic>
      <p:sp>
        <p:nvSpPr>
          <p:cNvPr id="293" name="Google Shape;293;p25"/>
          <p:cNvSpPr txBox="1"/>
          <p:nvPr/>
        </p:nvSpPr>
        <p:spPr>
          <a:xfrm>
            <a:off x="666750" y="476250"/>
            <a:ext cx="11401425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 dirty="0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Demo </a:t>
            </a:r>
            <a:r>
              <a:rPr lang="en-US" sz="3150" b="1" i="0" u="none" strike="noStrike" cap="none" dirty="0" err="1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Produs</a:t>
            </a:r>
            <a:endParaRPr dirty="0"/>
          </a:p>
        </p:txBody>
      </p:sp>
      <p:sp>
        <p:nvSpPr>
          <p:cNvPr id="294" name="Google Shape;294;p25"/>
          <p:cNvSpPr/>
          <p:nvPr/>
        </p:nvSpPr>
        <p:spPr>
          <a:xfrm>
            <a:off x="666750" y="1066800"/>
            <a:ext cx="10858500" cy="19050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25"/>
          <p:cNvSpPr txBox="1"/>
          <p:nvPr/>
        </p:nvSpPr>
        <p:spPr>
          <a:xfrm>
            <a:off x="666750" y="3990975"/>
            <a:ext cx="34607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Tracking Landmarks</a:t>
            </a:r>
            <a:endParaRPr/>
          </a:p>
        </p:txBody>
      </p:sp>
      <p:sp>
        <p:nvSpPr>
          <p:cNvPr id="296" name="Google Shape;296;p25"/>
          <p:cNvSpPr txBox="1"/>
          <p:nvPr/>
        </p:nvSpPr>
        <p:spPr>
          <a:xfrm>
            <a:off x="4365575" y="3990975"/>
            <a:ext cx="34607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Integrare Zoom/Teams</a:t>
            </a:r>
            <a:endParaRPr/>
          </a:p>
        </p:txBody>
      </p:sp>
      <p:sp>
        <p:nvSpPr>
          <p:cNvPr id="297" name="Google Shape;297;p25"/>
          <p:cNvSpPr txBox="1"/>
          <p:nvPr/>
        </p:nvSpPr>
        <p:spPr>
          <a:xfrm>
            <a:off x="8064400" y="3990975"/>
            <a:ext cx="3460849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Panou Configurare</a:t>
            </a:r>
            <a:endParaRPr/>
          </a:p>
        </p:txBody>
      </p:sp>
      <p:pic>
        <p:nvPicPr>
          <p:cNvPr id="298" name="Google Shape;298;p2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42950" y="1495425"/>
            <a:ext cx="3308300" cy="2228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9" name="Google Shape;299;p25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441775" y="1495425"/>
            <a:ext cx="3308300" cy="2228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0" name="Google Shape;300;p25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140600" y="1495425"/>
            <a:ext cx="3308449" cy="2228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4" name="Picture 6" descr="GitHub - kulin-patel/Hand-Tracking: Identifying hand with 21 landmarks. It  can also track movement. · GitHub">
            <a:extLst>
              <a:ext uri="{FF2B5EF4-FFF2-40B4-BE49-F238E27FC236}">
                <a16:creationId xmlns:a16="http://schemas.microsoft.com/office/drawing/2014/main" id="{4A2E35F0-7E8B-D4E0-EF08-1FDD384DDB0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746" t="26815" r="746" b="7821"/>
          <a:stretch>
            <a:fillRect/>
          </a:stretch>
        </p:blipFill>
        <p:spPr bwMode="auto">
          <a:xfrm>
            <a:off x="641300" y="1495423"/>
            <a:ext cx="3409950" cy="22288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Introducing Sign Language View for Teams Meetings | Microsoft Community Hub">
            <a:extLst>
              <a:ext uri="{FF2B5EF4-FFF2-40B4-BE49-F238E27FC236}">
                <a16:creationId xmlns:a16="http://schemas.microsoft.com/office/drawing/2014/main" id="{9F0CE655-BE0A-2D58-913B-5BC7D822718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87" r="21215"/>
          <a:stretch>
            <a:fillRect/>
          </a:stretch>
        </p:blipFill>
        <p:spPr bwMode="auto">
          <a:xfrm>
            <a:off x="4441775" y="1437248"/>
            <a:ext cx="3395619" cy="23304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4" name="Picture 16" descr="How to use Sign Language View in Microsoft Teams – Instruction @ UH">
            <a:extLst>
              <a:ext uri="{FF2B5EF4-FFF2-40B4-BE49-F238E27FC236}">
                <a16:creationId xmlns:a16="http://schemas.microsoft.com/office/drawing/2014/main" id="{DE1BB9B4-1A7F-6A9D-6077-6FFD73D887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72536" y="1442749"/>
            <a:ext cx="3244576" cy="23577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0" name="Google Shape;280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2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638300"/>
            <a:ext cx="5286375" cy="2228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2" name="Google Shape;282;p2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1638300"/>
            <a:ext cx="5286375" cy="2228850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p24"/>
          <p:cNvSpPr txBox="1"/>
          <p:nvPr/>
        </p:nvSpPr>
        <p:spPr>
          <a:xfrm>
            <a:off x="571500" y="571500"/>
            <a:ext cx="11601450" cy="542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Concluzii și Perspective</a:t>
            </a:r>
            <a:endParaRPr/>
          </a:p>
        </p:txBody>
      </p:sp>
      <p:sp>
        <p:nvSpPr>
          <p:cNvPr id="284" name="Google Shape;284;p24"/>
          <p:cNvSpPr/>
          <p:nvPr/>
        </p:nvSpPr>
        <p:spPr>
          <a:xfrm>
            <a:off x="571500" y="1238250"/>
            <a:ext cx="11049000" cy="19050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24"/>
          <p:cNvSpPr txBox="1"/>
          <p:nvPr/>
        </p:nvSpPr>
        <p:spPr>
          <a:xfrm>
            <a:off x="295275" y="4343400"/>
            <a:ext cx="11601450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Vă mulțumesc pentru atenție!</a:t>
            </a:r>
            <a:endParaRPr/>
          </a:p>
        </p:txBody>
      </p:sp>
      <p:sp>
        <p:nvSpPr>
          <p:cNvPr id="286" name="Google Shape;286;p24"/>
          <p:cNvSpPr txBox="1"/>
          <p:nvPr/>
        </p:nvSpPr>
        <p:spPr>
          <a:xfrm>
            <a:off x="571500" y="4962525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Sunt disponibil pentru întrebări și clarificări.</a:t>
            </a:r>
            <a:endParaRPr/>
          </a:p>
        </p:txBody>
      </p:sp>
      <p:sp>
        <p:nvSpPr>
          <p:cNvPr id="287" name="Google Shape;287;p24"/>
          <p:cNvSpPr txBox="1"/>
          <p:nvPr/>
        </p:nvSpPr>
        <p:spPr>
          <a:xfrm>
            <a:off x="933450" y="1933575"/>
            <a:ext cx="4860607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Contribuții</a:t>
            </a:r>
            <a:endParaRPr/>
          </a:p>
        </p:txBody>
      </p:sp>
      <p:sp>
        <p:nvSpPr>
          <p:cNvPr id="288" name="Google Shape;288;p24"/>
          <p:cNvSpPr txBox="1"/>
          <p:nvPr/>
        </p:nvSpPr>
        <p:spPr>
          <a:xfrm>
            <a:off x="933450" y="2466975"/>
            <a:ext cx="462915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Implementarea unui sistem independent de cloud, cu precizie de peste 85% pe vocabularul stabilit și latență minimă.</a:t>
            </a:r>
            <a:endParaRPr/>
          </a:p>
        </p:txBody>
      </p:sp>
      <p:sp>
        <p:nvSpPr>
          <p:cNvPr id="289" name="Google Shape;289;p24"/>
          <p:cNvSpPr txBox="1"/>
          <p:nvPr/>
        </p:nvSpPr>
        <p:spPr>
          <a:xfrm>
            <a:off x="6696075" y="1933575"/>
            <a:ext cx="4860607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Direcții Viitoare</a:t>
            </a:r>
            <a:endParaRPr/>
          </a:p>
        </p:txBody>
      </p:sp>
      <p:sp>
        <p:nvSpPr>
          <p:cNvPr id="290" name="Google Shape;290;p24"/>
          <p:cNvSpPr txBox="1"/>
          <p:nvPr/>
        </p:nvSpPr>
        <p:spPr>
          <a:xfrm>
            <a:off x="6696075" y="2466975"/>
            <a:ext cx="462915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Extinderea dicționarului LSR cu jargon tehnic și dezvoltarea unui model hibrid Vision-Transformer pentru context complex.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0" name="Google Shape;320;p2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21" name="Google Shape;321;p27"/>
          <p:cNvSpPr txBox="1"/>
          <p:nvPr/>
        </p:nvSpPr>
        <p:spPr>
          <a:xfrm>
            <a:off x="666750" y="476250"/>
            <a:ext cx="11401425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Image Sources</a:t>
            </a:r>
            <a:endParaRPr/>
          </a:p>
        </p:txBody>
      </p:sp>
      <p:sp>
        <p:nvSpPr>
          <p:cNvPr id="322" name="Google Shape;322;p27"/>
          <p:cNvSpPr/>
          <p:nvPr/>
        </p:nvSpPr>
        <p:spPr>
          <a:xfrm>
            <a:off x="666750" y="1066800"/>
            <a:ext cx="10858500" cy="19050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27"/>
          <p:cNvSpPr/>
          <p:nvPr/>
        </p:nvSpPr>
        <p:spPr>
          <a:xfrm>
            <a:off x="666750" y="1419225"/>
            <a:ext cx="10858500" cy="784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27"/>
          <p:cNvSpPr/>
          <p:nvPr/>
        </p:nvSpPr>
        <p:spPr>
          <a:xfrm>
            <a:off x="666750" y="2203995"/>
            <a:ext cx="10858500" cy="784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27"/>
          <p:cNvSpPr/>
          <p:nvPr/>
        </p:nvSpPr>
        <p:spPr>
          <a:xfrm>
            <a:off x="666750" y="2988766"/>
            <a:ext cx="10858500" cy="784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27"/>
          <p:cNvSpPr/>
          <p:nvPr/>
        </p:nvSpPr>
        <p:spPr>
          <a:xfrm>
            <a:off x="666750" y="2194470"/>
            <a:ext cx="108585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27"/>
          <p:cNvSpPr/>
          <p:nvPr/>
        </p:nvSpPr>
        <p:spPr>
          <a:xfrm>
            <a:off x="666750" y="2194470"/>
            <a:ext cx="108585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27"/>
          <p:cNvSpPr/>
          <p:nvPr/>
        </p:nvSpPr>
        <p:spPr>
          <a:xfrm>
            <a:off x="666750" y="2979241"/>
            <a:ext cx="108585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27"/>
          <p:cNvSpPr/>
          <p:nvPr/>
        </p:nvSpPr>
        <p:spPr>
          <a:xfrm>
            <a:off x="666750" y="2979241"/>
            <a:ext cx="108585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27"/>
          <p:cNvSpPr/>
          <p:nvPr/>
        </p:nvSpPr>
        <p:spPr>
          <a:xfrm>
            <a:off x="666750" y="3764012"/>
            <a:ext cx="108585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27"/>
          <p:cNvSpPr/>
          <p:nvPr/>
        </p:nvSpPr>
        <p:spPr>
          <a:xfrm>
            <a:off x="666750" y="3764012"/>
            <a:ext cx="108585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32" name="Google Shape;332;p2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66750" y="1568648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Google Shape;333;p27"/>
          <p:cNvSpPr txBox="1"/>
          <p:nvPr/>
        </p:nvSpPr>
        <p:spPr>
          <a:xfrm>
            <a:off x="1762125" y="1562100"/>
            <a:ext cx="9763125" cy="198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https://media.istockphoto.com/id/2155463048/vector/asl-states-and-feelings.jpg?s=612x612&amp;w=0&amp;k=20&amp;c=IRPhk0xbP-aC_VDGkPGAbZSsqiQTb66VzLINP1qo0AI=</a:t>
            </a:r>
            <a:endParaRPr/>
          </a:p>
        </p:txBody>
      </p:sp>
      <p:sp>
        <p:nvSpPr>
          <p:cNvPr id="334" name="Google Shape;334;p27"/>
          <p:cNvSpPr txBox="1"/>
          <p:nvPr/>
        </p:nvSpPr>
        <p:spPr>
          <a:xfrm>
            <a:off x="1762125" y="1807815"/>
            <a:ext cx="976312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DM Sans"/>
                <a:ea typeface="DM Sans"/>
                <a:cs typeface="DM Sans"/>
                <a:sym typeface="DM Sans"/>
              </a:rPr>
              <a:t>www.istockphoto.com</a:t>
            </a:r>
            <a:endParaRPr/>
          </a:p>
        </p:txBody>
      </p:sp>
      <p:pic>
        <p:nvPicPr>
          <p:cNvPr id="335" name="Google Shape;335;p2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66750" y="2353419"/>
            <a:ext cx="11430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336" name="Google Shape;336;p27"/>
          <p:cNvSpPr txBox="1"/>
          <p:nvPr/>
        </p:nvSpPr>
        <p:spPr>
          <a:xfrm>
            <a:off x="1762125" y="2346870"/>
            <a:ext cx="9763125" cy="198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https://ai.google.dev/static/mediapipe/images/solutions/hand-landmarks.png</a:t>
            </a:r>
            <a:endParaRPr/>
          </a:p>
        </p:txBody>
      </p:sp>
      <p:sp>
        <p:nvSpPr>
          <p:cNvPr id="337" name="Google Shape;337;p27"/>
          <p:cNvSpPr txBox="1"/>
          <p:nvPr/>
        </p:nvSpPr>
        <p:spPr>
          <a:xfrm>
            <a:off x="1762125" y="2592585"/>
            <a:ext cx="976312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DM Sans"/>
                <a:ea typeface="DM Sans"/>
                <a:cs typeface="DM Sans"/>
                <a:sym typeface="DM Sans"/>
              </a:rPr>
              <a:t>ai.google.dev</a:t>
            </a:r>
            <a:endParaRPr/>
          </a:p>
        </p:txBody>
      </p:sp>
      <p:pic>
        <p:nvPicPr>
          <p:cNvPr id="338" name="Google Shape;338;p2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66750" y="3138189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39" name="Google Shape;339;p27"/>
          <p:cNvSpPr txBox="1"/>
          <p:nvPr/>
        </p:nvSpPr>
        <p:spPr>
          <a:xfrm>
            <a:off x="1762125" y="3131641"/>
            <a:ext cx="9763125" cy="198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https://assets.zoom.us/images/en-us/desktop/generic/sign-language-interpretation-participant-POV.png</a:t>
            </a:r>
            <a:endParaRPr/>
          </a:p>
        </p:txBody>
      </p:sp>
      <p:sp>
        <p:nvSpPr>
          <p:cNvPr id="340" name="Google Shape;340;p27"/>
          <p:cNvSpPr txBox="1"/>
          <p:nvPr/>
        </p:nvSpPr>
        <p:spPr>
          <a:xfrm>
            <a:off x="1762125" y="3377356"/>
            <a:ext cx="976312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DM Sans"/>
                <a:ea typeface="DM Sans"/>
                <a:cs typeface="DM Sans"/>
                <a:sym typeface="DM Sans"/>
              </a:rPr>
              <a:t>support.zoom.com</a:t>
            </a:r>
            <a:endParaRPr/>
          </a:p>
        </p:txBody>
      </p:sp>
      <p:pic>
        <p:nvPicPr>
          <p:cNvPr id="341" name="Google Shape;341;p2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66750" y="4022080"/>
            <a:ext cx="1647825" cy="609600"/>
          </a:xfrm>
          <a:prstGeom prst="rect">
            <a:avLst/>
          </a:prstGeom>
          <a:noFill/>
          <a:ln>
            <a:noFill/>
          </a:ln>
        </p:spPr>
      </p:pic>
      <p:sp>
        <p:nvSpPr>
          <p:cNvPr id="342" name="Google Shape;342;p27"/>
          <p:cNvSpPr txBox="1"/>
          <p:nvPr/>
        </p:nvSpPr>
        <p:spPr>
          <a:xfrm>
            <a:off x="1762125" y="3916412"/>
            <a:ext cx="9763125" cy="396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https://www.slideteam.net/media/catalog/product/cache/1280x720/s/o/software_development_best_practice_tools_jira_dashboard_for_agile_software_teams_work_status_slide01.jpg</a:t>
            </a:r>
            <a:endParaRPr/>
          </a:p>
        </p:txBody>
      </p:sp>
      <p:sp>
        <p:nvSpPr>
          <p:cNvPr id="343" name="Google Shape;343;p27"/>
          <p:cNvSpPr txBox="1"/>
          <p:nvPr/>
        </p:nvSpPr>
        <p:spPr>
          <a:xfrm>
            <a:off x="1762125" y="4360217"/>
            <a:ext cx="976312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DM Sans"/>
                <a:ea typeface="DM Sans"/>
                <a:cs typeface="DM Sans"/>
                <a:sym typeface="DM Sans"/>
              </a:rPr>
              <a:t>www.slideteam.net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934</Words>
  <Application>Microsoft Office PowerPoint</Application>
  <PresentationFormat>Widescreen</PresentationFormat>
  <Paragraphs>113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Calibri</vt:lpstr>
      <vt:lpstr>Merriweather</vt:lpstr>
      <vt:lpstr>Arial</vt:lpstr>
      <vt:lpstr>DM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This</dc:creator>
  <cp:lastModifiedBy>Timpu, Eusebiu</cp:lastModifiedBy>
  <cp:revision>1</cp:revision>
  <dcterms:modified xsi:type="dcterms:W3CDTF">2026-04-28T12:45:28Z</dcterms:modified>
</cp:coreProperties>
</file>